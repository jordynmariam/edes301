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61" r:id="rId2"/>
    <p:sldId id="372" r:id="rId3"/>
    <p:sldId id="368" r:id="rId4"/>
    <p:sldId id="370" r:id="rId5"/>
    <p:sldId id="36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D8B2EF3-7787-E243-9029-52C6ED9EB304}" v="4" dt="2026-10-01T05:35:02.532"/>
  </p1510:revLst>
</p1510:revInfo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096" autoAdjust="0"/>
    <p:restoredTop sz="67249" autoAdjust="0"/>
  </p:normalViewPr>
  <p:slideViewPr>
    <p:cSldViewPr>
      <p:cViewPr>
        <p:scale>
          <a:sx n="74" d="100"/>
          <a:sy n="74" d="100"/>
        </p:scale>
        <p:origin x="168" y="328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2" d="100"/>
          <a:sy n="82" d="100"/>
        </p:scale>
        <p:origin x="3852" y="78"/>
      </p:cViewPr>
      <p:guideLst/>
    </p:cSldViewPr>
  </p:notesViewPr>
  <p:gridSpacing cx="38100" cy="381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041DB8-B66F-4DC8-A96E-33677E0F90FF}" type="datetimeFigureOut">
              <a:rPr lang="en-US" smtClean="0"/>
              <a:t>9/30/26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04A0D4-B89B-4ADD-AF9E-38636B40EE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38915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B49C4A-65AC-492D-9701-81B46C3AD0E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869989-EB00-4EE7-BCB5-25BDC5BB2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6361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side, inputs:</a:t>
            </a:r>
          </a:p>
          <a:p>
            <a:pPr marL="171450" indent="-171450">
              <a:buFontTx/>
              <a:buChar char="-"/>
            </a:pPr>
            <a:r>
              <a:rPr lang="en-US" dirty="0"/>
              <a:t>Two arcade buttons, one per player, plus a start button. Each is a GPIO connection.</a:t>
            </a:r>
          </a:p>
          <a:p>
            <a:pPr marL="171450" indent="-171450">
              <a:buFontTx/>
              <a:buChar char="-"/>
            </a:pPr>
            <a:r>
              <a:rPr lang="en-US" dirty="0"/>
              <a:t>Difficulty knob (potentiometer) uses AIN, an analog input. Reads how far the knob is turned. Likely will be used for single-player mode: sets how fast the computer “reacts.” 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micro-USB connector brings power in (the red line)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Right side, outputs:</a:t>
            </a:r>
          </a:p>
          <a:p>
            <a:pPr marL="171450" indent="-171450">
              <a:buFontTx/>
              <a:buChar char="-"/>
            </a:pPr>
            <a:r>
              <a:rPr lang="en-US" dirty="0"/>
              <a:t>7-segment display, over I2C. A two-wire conversation where the </a:t>
            </a:r>
            <a:r>
              <a:rPr lang="en-US" dirty="0" err="1"/>
              <a:t>PocketBeagle</a:t>
            </a:r>
            <a:r>
              <a:rPr lang="en-US" dirty="0"/>
              <a:t> sends numbers to show.</a:t>
            </a:r>
          </a:p>
          <a:p>
            <a:pPr marL="171450" indent="-171450">
              <a:buFontTx/>
              <a:buChar char="-"/>
            </a:pPr>
            <a:r>
              <a:rPr lang="en-US" dirty="0"/>
              <a:t>LED strip, over SPI: a fast data line that tells each LED what color to be. Goes through a level shifter first because </a:t>
            </a:r>
            <a:r>
              <a:rPr lang="en-US" dirty="0" err="1"/>
              <a:t>PocketBeagle</a:t>
            </a:r>
            <a:r>
              <a:rPr lang="en-US" dirty="0"/>
              <a:t> speaks at 3.3V and the strip expects 5V.</a:t>
            </a:r>
          </a:p>
          <a:p>
            <a:pPr marL="171450" indent="-171450">
              <a:buFontTx/>
              <a:buChar char="-"/>
            </a:pPr>
            <a:r>
              <a:rPr lang="en-US" dirty="0"/>
              <a:t>Buzzer, over PWM: the pin switches on and off very fast, and the speed sets the pitch of the sound.</a:t>
            </a:r>
          </a:p>
          <a:p>
            <a:pPr marL="171450" indent="-171450">
              <a:buFontTx/>
              <a:buChar char="-"/>
            </a:pPr>
            <a:r>
              <a:rPr lang="en-US" b="0" dirty="0"/>
              <a:t>µSD card: </a:t>
            </a:r>
            <a:r>
              <a:rPr lang="en-US" dirty="0"/>
              <a:t>where Linux, code and saved stats live.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69989-EB00-4EE7-BCB5-25BDC5BB29F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3860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Power comes in from a 5V wall adapter through the micro USB port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Pocketbeagle</a:t>
            </a:r>
            <a:r>
              <a:rPr lang="en-US" dirty="0"/>
              <a:t> hands it out on three rails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5V (red) for the LED strip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3.3V (blue) for the display, buzzer, and buttons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1.8V (green): only for difficulty knob. The analog input can’t handle more than 1.8V, so the knob must be wired 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69989-EB00-4EE7-BCB5-25BDC5BB29F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20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6" name="Straight Connector 5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oup 22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1" name="Straight Connector 40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6" name="Group 45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2" name="Straight Connector 51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7" name="Straight Connector 46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" name="Group 23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5" name="Straight Connector 24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0" name="Group 29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6" name="Straight Connector 35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1" name="Straight Connector 30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93845" y="1909346"/>
            <a:ext cx="9604310" cy="3383280"/>
          </a:xfrm>
        </p:spPr>
        <p:txBody>
          <a:bodyPr anchor="b">
            <a:normAutofit/>
          </a:bodyPr>
          <a:lstStyle>
            <a:lvl1pPr algn="l">
              <a:lnSpc>
                <a:spcPct val="76000"/>
              </a:lnSpc>
              <a:defRPr sz="800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93845" y="5432564"/>
            <a:ext cx="9604310" cy="4572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58" name="Straight Connector 57"/>
          <p:cNvCxnSpPr/>
          <p:nvPr userDrawn="1"/>
        </p:nvCxnSpPr>
        <p:spPr>
          <a:xfrm>
            <a:off x="1295400" y="5294175"/>
            <a:ext cx="96012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8862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295400"/>
            <a:ext cx="10972800" cy="472439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74B5B-21A0-4192-BF4C-38187F1A68D8}" type="datetime1">
              <a:rPr lang="en-US" smtClean="0"/>
              <a:t>9/30/26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44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gradFill flip="none" rotWithShape="1">
          <a:gsLst>
            <a:gs pos="0">
              <a:schemeClr val="accent1"/>
            </a:gs>
            <a:gs pos="97000">
              <a:schemeClr val="accent1">
                <a:lumMod val="8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8" name="Straight Connector 7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Group 23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2" name="Straight Connector 41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" name="Group 46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3" name="Straight Connector 52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8" name="Straight Connector 47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oup 24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6" name="Straight Connector 25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Group 30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7" name="Straight Connector 3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Straight Connector 31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0" y="2541573"/>
            <a:ext cx="9601200" cy="2743200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600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5431536"/>
            <a:ext cx="9601200" cy="45720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58" name="Straight Connector 57"/>
          <p:cNvCxnSpPr/>
          <p:nvPr userDrawn="1"/>
        </p:nvCxnSpPr>
        <p:spPr>
          <a:xfrm>
            <a:off x="1295400" y="5294175"/>
            <a:ext cx="96012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67780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5400" y="1981199"/>
            <a:ext cx="4572000" cy="38100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600" y="1981199"/>
            <a:ext cx="4572000" cy="38100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CF7C-B333-48E1-A4A6-83A3C8B73AC0}" type="datetime1">
              <a:rPr lang="en-US" smtClean="0"/>
              <a:t>9/30/26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567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1818322"/>
            <a:ext cx="4572000" cy="64135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2503713"/>
            <a:ext cx="4572000" cy="328748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24600" y="1818322"/>
            <a:ext cx="4572000" cy="64135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24600" y="2503713"/>
            <a:ext cx="4572000" cy="328748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20762-5CBF-4210-AB54-376B091119F8}" type="datetime1">
              <a:rPr lang="en-US" smtClean="0"/>
              <a:t>9/30/26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906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DB371-BF5F-4058-A212-1A908E4D2674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97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1" name="Group 160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162" name="Straight Connector 161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Straight Connector 171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8" name="Group 177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196" name="Straight Connector 195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Straight Connector 196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Straight Connector 197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Straight Connector 198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Straight Connector 199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01" name="Group 200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207" name="Straight Connector 20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Straight Connector 207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9" name="Straight Connector 208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Straight Connector 209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1" name="Straight Connector 21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02" name="Straight Connector 201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Straight Connector 202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Straight Connector 203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Straight Connector 204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Straight Connector 20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9" name="Group 178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180" name="Straight Connector 179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Straight Connector 180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Straight Connector 181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Straight Connector 182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Straight Connector 183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5" name="Group 184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191" name="Straight Connector 190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Straight Connector 191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3" name="Straight Connector 192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Straight Connector 193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Straight Connector 194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6" name="Straight Connector 185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Straight Connector 186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" name="Straight Connector 187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" name="Straight Connector 188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0" name="Straight Connector 189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13" name="Footer Placeholder 21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212" name="Date Placeholder 21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4083B-90AA-48CF-BAD5-00AA24D7F288}" type="datetime1">
              <a:rPr lang="en-US" smtClean="0"/>
              <a:t>9/30/26</a:t>
            </a:fld>
            <a:endParaRPr lang="en-US"/>
          </a:p>
        </p:txBody>
      </p:sp>
      <p:sp>
        <p:nvSpPr>
          <p:cNvPr id="214" name="Slide Number Placeholder 2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817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8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10" name="Straight Connector 9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4" name="Straight Connector 43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9" name="Group 48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" name="Group 26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8" name="Straight Connector 27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Group 32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Rectangle 6"/>
          <p:cNvSpPr/>
          <p:nvPr userDrawn="1"/>
        </p:nvSpPr>
        <p:spPr>
          <a:xfrm>
            <a:off x="0" y="0"/>
            <a:ext cx="7315200" cy="6858000"/>
          </a:xfrm>
          <a:prstGeom prst="rect">
            <a:avLst/>
          </a:prstGeom>
          <a:gradFill>
            <a:gsLst>
              <a:gs pos="69000">
                <a:schemeClr val="bg1"/>
              </a:gs>
              <a:gs pos="0">
                <a:schemeClr val="bg1"/>
              </a:gs>
              <a:gs pos="10000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13152" y="571500"/>
            <a:ext cx="3657600" cy="2197100"/>
          </a:xfrm>
        </p:spPr>
        <p:txBody>
          <a:bodyPr anchor="b">
            <a:normAutofit/>
          </a:bodyPr>
          <a:lstStyle>
            <a:lvl1pPr>
              <a:defRPr sz="2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3197" y="571500"/>
            <a:ext cx="6217920" cy="5715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13152" y="2995012"/>
            <a:ext cx="3657600" cy="228595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60" name="Straight Connector 59"/>
          <p:cNvCxnSpPr/>
          <p:nvPr userDrawn="1"/>
        </p:nvCxnSpPr>
        <p:spPr>
          <a:xfrm>
            <a:off x="7923089" y="2895600"/>
            <a:ext cx="3659311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5BAF629-ECA2-4CF3-B790-9D9BDED98269}" type="datetime1">
              <a:rPr lang="en-US" smtClean="0"/>
              <a:pPr/>
              <a:t>9/30/26</a:t>
            </a:fld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374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8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9" name="Straight Connector 8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" name="Group 24"/>
            <p:cNvGrpSpPr/>
            <p:nvPr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3" name="Straight Connector 42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" name="Group 47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4" name="Straight Connector 53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9" name="Straight Connector 48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" name="Group 25"/>
            <p:cNvGrpSpPr/>
            <p:nvPr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7" name="Straight Connector 26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2" name="Group 31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8" name="Straight Connector 37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3" name="Straight Connector 32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0" name="Rectangle 59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gradFill>
            <a:gsLst>
              <a:gs pos="69000">
                <a:schemeClr val="bg1"/>
              </a:gs>
              <a:gs pos="0">
                <a:schemeClr val="bg1"/>
              </a:gs>
              <a:gs pos="10000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Connector 58"/>
          <p:cNvCxnSpPr/>
          <p:nvPr/>
        </p:nvCxnSpPr>
        <p:spPr>
          <a:xfrm>
            <a:off x="7923089" y="2895600"/>
            <a:ext cx="3659311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09560" y="576072"/>
            <a:ext cx="3657600" cy="2194560"/>
          </a:xfrm>
        </p:spPr>
        <p:txBody>
          <a:bodyPr anchor="b">
            <a:normAutofit/>
          </a:bodyPr>
          <a:lstStyle>
            <a:lvl1pPr>
              <a:defRPr sz="2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4412" y="-159"/>
            <a:ext cx="7315200" cy="6858000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09560" y="2999232"/>
            <a:ext cx="3657600" cy="2286000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20318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A29A4-78C8-47AB-BA06-22CB45938951}" type="datetime1">
              <a:rPr lang="en-US" smtClean="0"/>
              <a:t>9/30/26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154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09314" y="489856"/>
            <a:ext cx="1687286" cy="530134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9" y="489856"/>
            <a:ext cx="7587344" cy="5301343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D4ACF-2D82-46F2-A8E9-23963AA34E86}" type="datetime1">
              <a:rPr lang="en-US" smtClean="0"/>
              <a:t>9/30/26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6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53000">
              <a:schemeClr val="bg1"/>
            </a:gs>
            <a:gs pos="0">
              <a:schemeClr val="bg1">
                <a:lumMod val="100000"/>
              </a:schemeClr>
            </a:gs>
            <a:gs pos="100000">
              <a:schemeClr val="bg1">
                <a:lumMod val="95000"/>
                <a:alpha val="65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Group 95"/>
          <p:cNvGrpSpPr/>
          <p:nvPr userDrawn="1"/>
        </p:nvGrpSpPr>
        <p:grpSpPr bwMode="hidden">
          <a:xfrm>
            <a:off x="-1" y="-195943"/>
            <a:ext cx="12192002" cy="6858000"/>
            <a:chOff x="-1" y="0"/>
            <a:chExt cx="12192002" cy="6858000"/>
          </a:xfrm>
        </p:grpSpPr>
        <p:cxnSp>
          <p:nvCxnSpPr>
            <p:cNvPr id="97" name="Straight Connector 96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3" name="Group 112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131" name="Straight Connector 130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Straight Connector 131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32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Straight Connector 134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6" name="Group 135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142" name="Straight Connector 141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Straight Connector 142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Straight Connector 143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Straight Connector 144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" name="Straight Connector 145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37" name="Straight Connector 136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Straight Connector 137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Straight Connector 138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Straight Connector 139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Straight Connector 140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4" name="Group 113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115" name="Straight Connector 114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Straight Connector 115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Straight Connector 116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0" name="Group 119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126" name="Straight Connector 125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Straight Connector 126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Straight Connector 127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9" name="Straight Connector 128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0" name="Straight Connector 129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21" name="Straight Connector 120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Straight Connector 122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Straight Connector 123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Straight Connector 124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0" y="503853"/>
            <a:ext cx="9601200" cy="114238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1981201"/>
            <a:ext cx="9601200" cy="3809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48" name="Straight Connector 147"/>
          <p:cNvCxnSpPr/>
          <p:nvPr userDrawn="1"/>
        </p:nvCxnSpPr>
        <p:spPr>
          <a:xfrm>
            <a:off x="609600" y="6172200"/>
            <a:ext cx="10972800" cy="0"/>
          </a:xfrm>
          <a:prstGeom prst="line">
            <a:avLst/>
          </a:prstGeom>
          <a:ln w="127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601" y="6289679"/>
            <a:ext cx="6128030" cy="2224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294042" y="6289679"/>
            <a:ext cx="965946" cy="2224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fld id="{B51B2453-8663-4C69-AF73-9FD7B1DEC5D0}" type="datetime1">
              <a:rPr lang="en-US" smtClean="0"/>
              <a:pPr/>
              <a:t>9/30/26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65311" y="6289679"/>
            <a:ext cx="918882" cy="2224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3259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9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179388" algn="l" defTabSz="914400" rtl="0" eaLnBrk="1" latinLnBrk="0" hangingPunct="1">
        <a:lnSpc>
          <a:spcPct val="90000"/>
        </a:lnSpc>
        <a:spcBef>
          <a:spcPts val="8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182880" algn="l" defTabSz="914400" rtl="0" eaLnBrk="1" latinLnBrk="0" hangingPunct="1">
        <a:lnSpc>
          <a:spcPct val="90000"/>
        </a:lnSpc>
        <a:spcBef>
          <a:spcPts val="8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179388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0200" indent="-179388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82880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878012" indent="0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mazon.com/EPLZON-Converter-Bi-Directional-Compatible-Raspberry/dp/B09R1QG957" TargetMode="External"/><Relationship Id="rId2" Type="http://schemas.openxmlformats.org/officeDocument/2006/relationships/hyperlink" Target="https://www.amazon.com/dp/B08GSCJPMD?lv=shuf&amp;channelId=500&amp;plpRedirect=mhFallback&amp;th=1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adafruit.com/product/473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93844" y="1909346"/>
            <a:ext cx="9907555" cy="3383280"/>
          </a:xfrm>
        </p:spPr>
        <p:txBody>
          <a:bodyPr>
            <a:normAutofit/>
          </a:bodyPr>
          <a:lstStyle/>
          <a:p>
            <a:r>
              <a:rPr lang="en-US" sz="6000" dirty="0"/>
              <a:t>EDES 301</a:t>
            </a:r>
            <a:br>
              <a:rPr lang="en-US" sz="6000" dirty="0"/>
            </a:br>
            <a:br>
              <a:rPr lang="en-US" dirty="0"/>
            </a:br>
            <a:r>
              <a:rPr lang="en-US" sz="6000" dirty="0"/>
              <a:t>Reaction Tug-of-War Proposal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93845" y="5432564"/>
            <a:ext cx="9604310" cy="1120636"/>
          </a:xfrm>
        </p:spPr>
        <p:txBody>
          <a:bodyPr/>
          <a:lstStyle/>
          <a:p>
            <a:r>
              <a:rPr lang="en-US" dirty="0"/>
              <a:t>10/01/2026</a:t>
            </a:r>
          </a:p>
          <a:p>
            <a:r>
              <a:rPr lang="en-US" dirty="0"/>
              <a:t>Jordyn Mariam</a:t>
            </a:r>
          </a:p>
        </p:txBody>
      </p:sp>
    </p:spTree>
    <p:extLst>
      <p:ext uri="{BB962C8B-B14F-4D97-AF65-F5344CB8AC3E}">
        <p14:creationId xmlns:p14="http://schemas.microsoft.com/office/powerpoint/2010/main" val="106904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257B0-C0C1-CDB1-A941-8ECCF5118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B7CE8-4B14-BE12-A306-26D379479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184330-CA66-B0F7-577F-F52EC7239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295400"/>
            <a:ext cx="6972300" cy="4724399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What is being proposed?</a:t>
            </a:r>
          </a:p>
          <a:p>
            <a:pPr lvl="1"/>
            <a:r>
              <a:rPr lang="en-US" dirty="0"/>
              <a:t>A 2-player reaction game on the </a:t>
            </a:r>
            <a:r>
              <a:rPr lang="en-US" dirty="0" err="1"/>
              <a:t>PocketBeagle</a:t>
            </a:r>
            <a:endParaRPr lang="en-US" dirty="0"/>
          </a:p>
          <a:p>
            <a:pPr lvl="2"/>
            <a:r>
              <a:rPr lang="en-US" dirty="0"/>
              <a:t>After a random “GO” cue, whoever reacts first and hits their button first pulls a light on an LED-strip “rope” one step toward their side</a:t>
            </a:r>
          </a:p>
          <a:p>
            <a:pPr lvl="2"/>
            <a:r>
              <a:rPr lang="en-US" dirty="0"/>
              <a:t>First player to pull the rope to their end wins</a:t>
            </a:r>
          </a:p>
          <a:p>
            <a:pPr lvl="2"/>
            <a:r>
              <a:rPr lang="en-US" dirty="0"/>
              <a:t>The display will show each round’s reaction time</a:t>
            </a:r>
          </a:p>
          <a:p>
            <a:pPr lvl="3"/>
            <a:r>
              <a:rPr lang="en-US" dirty="0"/>
              <a:t>Possibly build in a punishment if react too early</a:t>
            </a:r>
            <a:r>
              <a:rPr lang="en-US" dirty="0">
                <a:sym typeface="Wingdings" pitchFamily="2" charset="2"/>
              </a:rPr>
              <a:t> (move one step towards the opponent)</a:t>
            </a:r>
            <a:endParaRPr lang="en-US" dirty="0"/>
          </a:p>
          <a:p>
            <a:r>
              <a:rPr lang="en-US" b="1" dirty="0"/>
              <a:t>Improvements / additions over existing project</a:t>
            </a:r>
          </a:p>
          <a:p>
            <a:pPr lvl="1"/>
            <a:r>
              <a:rPr lang="en-US" dirty="0"/>
              <a:t>This game was inspired and builds on the </a:t>
            </a:r>
            <a:r>
              <a:rPr lang="en-US" dirty="0" err="1"/>
              <a:t>Whac</a:t>
            </a:r>
            <a:r>
              <a:rPr lang="en-US" dirty="0"/>
              <a:t>-a-Mole Game with </a:t>
            </a:r>
            <a:r>
              <a:rPr lang="en-US" dirty="0" err="1"/>
              <a:t>PocketBeagle</a:t>
            </a:r>
            <a:r>
              <a:rPr lang="en-US" dirty="0"/>
              <a:t> (Welsh &amp; Wicks, </a:t>
            </a:r>
            <a:r>
              <a:rPr lang="en-US" dirty="0" err="1"/>
              <a:t>Hackster.io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Libraries: </a:t>
            </a:r>
            <a:r>
              <a:rPr lang="en-US" dirty="0" err="1"/>
              <a:t>Adafruit_BBIO</a:t>
            </a:r>
            <a:r>
              <a:rPr lang="en-US" dirty="0"/>
              <a:t> (GPIO, PWM, ADC), HT16K33 7-segment driver, </a:t>
            </a:r>
            <a:r>
              <a:rPr lang="en-US" dirty="0" err="1"/>
              <a:t>spidev</a:t>
            </a:r>
            <a:r>
              <a:rPr lang="en-US" dirty="0"/>
              <a:t> (WS2812 LED strip over SPI)</a:t>
            </a:r>
          </a:p>
          <a:p>
            <a:pPr lvl="1"/>
            <a:r>
              <a:rPr lang="en-US" dirty="0"/>
              <a:t>From 1 player chasing a score </a:t>
            </a:r>
            <a:r>
              <a:rPr lang="en-US" dirty="0">
                <a:sym typeface="Wingdings" pitchFamily="2" charset="2"/>
              </a:rPr>
              <a:t> 2 players head-to-head (maybe add a 1-player mode)</a:t>
            </a:r>
          </a:p>
          <a:p>
            <a:pPr lvl="1"/>
            <a:r>
              <a:rPr lang="en-US" dirty="0">
                <a:sym typeface="Wingdings" pitchFamily="2" charset="2"/>
              </a:rPr>
              <a:t>4 single LEDs  addressable LED strip “rope”</a:t>
            </a:r>
          </a:p>
          <a:p>
            <a:pPr lvl="1"/>
            <a:r>
              <a:rPr lang="en-US" dirty="0">
                <a:sym typeface="Wingdings" pitchFamily="2" charset="2"/>
              </a:rPr>
              <a:t>Hit/miss scoring  millisecond reaction timing with first-press detection</a:t>
            </a:r>
          </a:p>
          <a:p>
            <a:pPr lvl="1"/>
            <a:r>
              <a:rPr lang="en-US" dirty="0">
                <a:sym typeface="Wingdings" pitchFamily="2" charset="2"/>
              </a:rPr>
              <a:t>New: false-start penalty, best reaction stats saved across reboots</a:t>
            </a:r>
            <a:br>
              <a:rPr lang="en-US" dirty="0">
                <a:sym typeface="Wingdings" pitchFamily="2" charset="2"/>
              </a:rPr>
            </a:br>
            <a:endParaRPr lang="en-US" dirty="0"/>
          </a:p>
          <a:p>
            <a:pPr lvl="1"/>
            <a:endParaRPr lang="en-US" dirty="0"/>
          </a:p>
          <a:p>
            <a:endParaRPr lang="en-US" b="1" dirty="0"/>
          </a:p>
          <a:p>
            <a:pPr lvl="1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DCF27F-FB7C-327B-3C7C-613665B786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2018" y="1308100"/>
            <a:ext cx="3907334" cy="19174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12F1723-6A94-4C0C-E829-EA0BC71B295E}"/>
              </a:ext>
            </a:extLst>
          </p:cNvPr>
          <p:cNvSpPr txBox="1"/>
          <p:nvPr/>
        </p:nvSpPr>
        <p:spPr>
          <a:xfrm>
            <a:off x="7942018" y="3419631"/>
            <a:ext cx="4059482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My story:</a:t>
            </a:r>
          </a:p>
          <a:p>
            <a:r>
              <a:rPr lang="en-US" sz="1600" dirty="0"/>
              <a:t>I originally was going to focus my project on something to help with studying, but I instead decided I wanted to do something more fun </a:t>
            </a:r>
            <a:r>
              <a:rPr lang="en-US" sz="1600" dirty="0">
                <a:sym typeface="Wingdings" pitchFamily="2" charset="2"/>
              </a:rPr>
              <a:t>. I wanted to build upon </a:t>
            </a:r>
            <a:r>
              <a:rPr lang="en-US" sz="1600" dirty="0" err="1">
                <a:sym typeface="Wingdings" pitchFamily="2" charset="2"/>
              </a:rPr>
              <a:t>Whac</a:t>
            </a:r>
            <a:r>
              <a:rPr lang="en-US" sz="1600" dirty="0">
                <a:sym typeface="Wingdings" pitchFamily="2" charset="2"/>
              </a:rPr>
              <a:t>-a-Mole by making it a head-to-head game that can be played with my friends and family to hopefully illustrate all that I’ve learned in EDES 301.</a:t>
            </a:r>
          </a:p>
        </p:txBody>
      </p:sp>
    </p:spTree>
    <p:extLst>
      <p:ext uri="{BB962C8B-B14F-4D97-AF65-F5344CB8AC3E}">
        <p14:creationId xmlns:p14="http://schemas.microsoft.com/office/powerpoint/2010/main" val="2212717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B93E4-AB7E-4F3D-B6C5-4ED4B78FA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Block Diagram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803D816-E2BE-F321-079C-4E161177B6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1295399"/>
            <a:ext cx="10553700" cy="4700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82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DFEA3-93A8-4943-9F3A-4798FB13F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Power Block Diagram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48AFF8-53F4-56CC-C86B-1D9F439D7B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190" y="1428750"/>
            <a:ext cx="9827619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615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1467B-51C2-4E0B-B52A-83BD9F0EB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/ Budget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0B47F4B-CB02-4D02-BE84-F6BC57D0FE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52318345"/>
              </p:ext>
            </p:extLst>
          </p:nvPr>
        </p:nvGraphicFramePr>
        <p:xfrm>
          <a:off x="609600" y="1295400"/>
          <a:ext cx="10972800" cy="360680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837714">
                  <a:extLst>
                    <a:ext uri="{9D8B030D-6E8A-4147-A177-3AD203B41FA5}">
                      <a16:colId xmlns:a16="http://schemas.microsoft.com/office/drawing/2014/main" val="3675253430"/>
                    </a:ext>
                  </a:extLst>
                </a:gridCol>
                <a:gridCol w="1567543">
                  <a:extLst>
                    <a:ext uri="{9D8B030D-6E8A-4147-A177-3AD203B41FA5}">
                      <a16:colId xmlns:a16="http://schemas.microsoft.com/office/drawing/2014/main" val="1372058784"/>
                    </a:ext>
                  </a:extLst>
                </a:gridCol>
                <a:gridCol w="1567543">
                  <a:extLst>
                    <a:ext uri="{9D8B030D-6E8A-4147-A177-3AD203B41FA5}">
                      <a16:colId xmlns:a16="http://schemas.microsoft.com/office/drawing/2014/main" val="3565830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EDES301</a:t>
                      </a:r>
                    </a:p>
                    <a:p>
                      <a:pPr algn="ctr"/>
                      <a:r>
                        <a:rPr lang="en-US" dirty="0"/>
                        <a:t> to Buy?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6800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PocketBeagle</a:t>
                      </a:r>
                      <a:r>
                        <a:rPr lang="en-US" dirty="0"/>
                        <a:t>, jumper wires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 Kit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135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4-digit, 7-segment display w/I2C backpack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 Kit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1266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Buzzer, potentiometer, 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 Kit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74935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Addressable LED strip (WS2812B, small strips) </a:t>
                      </a:r>
                      <a:r>
                        <a:rPr lang="en-US" dirty="0">
                          <a:hlinkClick r:id="rId2"/>
                        </a:rPr>
                        <a:t>[Amazon link]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$17.99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2840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 shifter (1 in 5 pack) </a:t>
                      </a:r>
                      <a:r>
                        <a:rPr lang="en-US" dirty="0">
                          <a:hlinkClick r:id="rId3"/>
                        </a:rPr>
                        <a:t>[Amazon link]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83561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Arcade buttons (not necessary but fun add) x 2 [</a:t>
                      </a:r>
                      <a:r>
                        <a:rPr lang="en-US" dirty="0">
                          <a:hlinkClick r:id="rId4"/>
                        </a:rPr>
                        <a:t>Adafruit link</a:t>
                      </a:r>
                      <a:r>
                        <a:rPr lang="en-US" dirty="0"/>
                        <a:t>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$11.90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44892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/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 V / 2 A USB wall adapter</a:t>
                      </a:r>
                      <a:endParaRPr lang="en-US" b="0" dirty="0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 own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7708406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rtl="0"/>
                      <a:r>
                        <a:rPr lang="en-US" b="0" dirty="0">
                          <a:effectLst/>
                        </a:rPr>
                        <a:t>Total purchasing cost: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$31.49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30441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1248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Diamond Grid 16x9">
  <a:themeElements>
    <a:clrScheme name="Custom 3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000000"/>
      </a:hlink>
      <a:folHlink>
        <a:srgbClr val="9F6715"/>
      </a:folHlink>
    </a:clrScheme>
    <a:fontScheme name="Arial">
      <a:maj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usiness diamond grid presentation (widescreen).potx" id="{B2221865-AD13-4DF0-B68E-BF08E8CC5659}" vid="{BAA0C488-98B6-4F47-8E1C-5C7CD9605F73}"/>
    </a:ext>
  </a:extLst>
</a:theme>
</file>

<file path=ppt/theme/theme2.xml><?xml version="1.0" encoding="utf-8"?>
<a:theme xmlns:a="http://schemas.openxmlformats.org/drawingml/2006/main" name="Office Theme">
  <a:themeElements>
    <a:clrScheme name="DiamondGrid">
      <a:dk1>
        <a:srgbClr val="2D2E2D"/>
      </a:dk1>
      <a:lt1>
        <a:sysClr val="window" lastClr="FFFFFF"/>
      </a:lt1>
      <a:dk2>
        <a:srgbClr val="000000"/>
      </a:dk2>
      <a:lt2>
        <a:srgbClr val="EAEAEA"/>
      </a:lt2>
      <a:accent1>
        <a:srgbClr val="D15A3E"/>
      </a:accent1>
      <a:accent2>
        <a:srgbClr val="B2B2B2"/>
      </a:accent2>
      <a:accent3>
        <a:srgbClr val="4F91A1"/>
      </a:accent3>
      <a:accent4>
        <a:srgbClr val="F0BA34"/>
      </a:accent4>
      <a:accent5>
        <a:srgbClr val="AEB733"/>
      </a:accent5>
      <a:accent6>
        <a:srgbClr val="926397"/>
      </a:accent6>
      <a:hlink>
        <a:srgbClr val="4F91A1"/>
      </a:hlink>
      <a:folHlink>
        <a:srgbClr val="808080"/>
      </a:folHlink>
    </a:clrScheme>
    <a:fontScheme name="Arial">
      <a:maj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DiamondGrid">
      <a:dk1>
        <a:srgbClr val="2D2E2D"/>
      </a:dk1>
      <a:lt1>
        <a:sysClr val="window" lastClr="FFFFFF"/>
      </a:lt1>
      <a:dk2>
        <a:srgbClr val="000000"/>
      </a:dk2>
      <a:lt2>
        <a:srgbClr val="EAEAEA"/>
      </a:lt2>
      <a:accent1>
        <a:srgbClr val="D15A3E"/>
      </a:accent1>
      <a:accent2>
        <a:srgbClr val="B2B2B2"/>
      </a:accent2>
      <a:accent3>
        <a:srgbClr val="4F91A1"/>
      </a:accent3>
      <a:accent4>
        <a:srgbClr val="F0BA34"/>
      </a:accent4>
      <a:accent5>
        <a:srgbClr val="AEB733"/>
      </a:accent5>
      <a:accent6>
        <a:srgbClr val="926397"/>
      </a:accent6>
      <a:hlink>
        <a:srgbClr val="4F91A1"/>
      </a:hlink>
      <a:folHlink>
        <a:srgbClr val="808080"/>
      </a:folHlink>
    </a:clrScheme>
    <a:fontScheme name="Arial">
      <a:maj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Business diamond grid presentation (widescreen)</Template>
  <TotalTime>10175</TotalTime>
  <Words>593</Words>
  <Application>Microsoft Macintosh PowerPoint</Application>
  <PresentationFormat>Widescreen</PresentationFormat>
  <Paragraphs>67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Wingdings</vt:lpstr>
      <vt:lpstr>Diamond Grid 16x9</vt:lpstr>
      <vt:lpstr>EDES 301  Reaction Tug-of-War Proposal</vt:lpstr>
      <vt:lpstr>Background Information</vt:lpstr>
      <vt:lpstr>System Block Diagram</vt:lpstr>
      <vt:lpstr>Power Block Diagram</vt:lpstr>
      <vt:lpstr>Components / Budget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Layout</dc:title>
  <dc:creator>Erik Welsh</dc:creator>
  <cp:lastModifiedBy>Jordyn Mariam</cp:lastModifiedBy>
  <cp:revision>415</cp:revision>
  <dcterms:created xsi:type="dcterms:W3CDTF">2018-01-09T20:24:50Z</dcterms:created>
  <dcterms:modified xsi:type="dcterms:W3CDTF">2026-10-02T02:14:52Z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  <property fmtid="{D5CDD505-2E9C-101B-9397-08002B2CF9AE}" pid="3" name="InternalTags">
    <vt:lpwstr/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