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61" r:id="rId2"/>
    <p:sldId id="372" r:id="rId3"/>
    <p:sldId id="368" r:id="rId4"/>
    <p:sldId id="370" r:id="rId5"/>
    <p:sldId id="369" r:id="rId6"/>
    <p:sldId id="256" r:id="rId7"/>
    <p:sldId id="257" r:id="rId8"/>
    <p:sldId id="258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3D5BC77-096E-654D-ACBB-475B1B9FAFDF}" v="3" dt="2026-10-20T17:41:49.904"/>
  </p1510:revLst>
</p1510:revInfo>
</file>

<file path=ppt/tableStyles.xml><?xml version="1.0" encoding="utf-8"?>
<a:tblStyleLst xmlns:a="http://schemas.openxmlformats.org/drawingml/2006/main" def="{BC89EF96-8CEA-46FF-86C4-4CE0E760980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3436" autoAdjust="0"/>
    <p:restoredTop sz="67249" autoAdjust="0"/>
  </p:normalViewPr>
  <p:slideViewPr>
    <p:cSldViewPr>
      <p:cViewPr>
        <p:scale>
          <a:sx n="129" d="100"/>
          <a:sy n="129" d="100"/>
        </p:scale>
        <p:origin x="-376" y="-1808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95" d="100"/>
        <a:sy n="95" d="100"/>
      </p:scale>
      <p:origin x="0" y="0"/>
    </p:cViewPr>
  </p:notesTextViewPr>
  <p:notesViewPr>
    <p:cSldViewPr>
      <p:cViewPr varScale="1">
        <p:scale>
          <a:sx n="82" d="100"/>
          <a:sy n="82" d="100"/>
        </p:scale>
        <p:origin x="3852" y="78"/>
      </p:cViewPr>
      <p:guideLst/>
    </p:cSldViewPr>
  </p:notesViewPr>
  <p:gridSpacing cx="38100" cy="381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041DB8-B66F-4DC8-A96E-33677E0F90FF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04A0D4-B89B-4ADD-AF9E-38636B40EE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38915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B49C4A-65AC-492D-9701-81B46C3AD0E4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869989-EB00-4EE7-BCB5-25BDC5BB29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6361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869989-EB00-4EE7-BCB5-25BDC5BB29F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1366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My project is a two-player reaction tug-of-war game. After a random GO cue, whoever hits their button first pulls a light on an LED strip one step toward their side, and the first to pull it all the way wins. The 7-segment display shows reaction times in milliseconds. It builds on your </a:t>
            </a:r>
            <a:r>
              <a:rPr lang="en-US" dirty="0" err="1"/>
              <a:t>Whac</a:t>
            </a:r>
            <a:r>
              <a:rPr lang="en-US" dirty="0"/>
              <a:t>-a-Mole project. I'm taking it from one player chasing a score to two players head-to-head, replacing the 4 LEDs with an addressable, LED strip and adding millisecond timing and a false-start penalty.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If need to broaden scope: single-player mode against a computer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869989-EB00-4EE7-BCB5-25BDC5BB29F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55770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 side, inputs:</a:t>
            </a:r>
          </a:p>
          <a:p>
            <a:pPr marL="171450" indent="-171450">
              <a:buFontTx/>
              <a:buChar char="-"/>
            </a:pPr>
            <a:r>
              <a:rPr lang="en-US" dirty="0"/>
              <a:t>Two arcade buttons, one per player, plus a start button. Each is a GPIO connection.</a:t>
            </a:r>
          </a:p>
          <a:p>
            <a:pPr marL="171450" indent="-171450">
              <a:buFontTx/>
              <a:buChar char="-"/>
            </a:pPr>
            <a:r>
              <a:rPr lang="en-US" dirty="0"/>
              <a:t>Difficulty knob (potentiometer) uses AIN, an analog input. Reads how far the knob is turned. Likely will be used for single-player mode: sets how fast the computer “reacts.” </a:t>
            </a:r>
          </a:p>
          <a:p>
            <a:pPr marL="171450" indent="-171450">
              <a:buFontTx/>
              <a:buChar char="-"/>
            </a:pPr>
            <a:r>
              <a:rPr lang="en-US" dirty="0"/>
              <a:t>The micro-USB connector brings power in (the red line)</a:t>
            </a:r>
          </a:p>
          <a:p>
            <a:pPr marL="171450" indent="-171450">
              <a:buFontTx/>
              <a:buChar char="-"/>
            </a:pPr>
            <a:endParaRPr lang="en-US" dirty="0"/>
          </a:p>
          <a:p>
            <a:pPr marL="0" indent="0">
              <a:buFontTx/>
              <a:buNone/>
            </a:pPr>
            <a:r>
              <a:rPr lang="en-US" dirty="0"/>
              <a:t>Right side, outputs:</a:t>
            </a:r>
          </a:p>
          <a:p>
            <a:pPr marL="171450" indent="-171450">
              <a:buFontTx/>
              <a:buChar char="-"/>
            </a:pPr>
            <a:r>
              <a:rPr lang="en-US" dirty="0"/>
              <a:t>7-segment display, over I2C. A two-wire conversation where the </a:t>
            </a:r>
            <a:r>
              <a:rPr lang="en-US" dirty="0" err="1"/>
              <a:t>PocketBeagle</a:t>
            </a:r>
            <a:r>
              <a:rPr lang="en-US" dirty="0"/>
              <a:t> sends numbers to show.</a:t>
            </a:r>
          </a:p>
          <a:p>
            <a:pPr marL="171450" indent="-171450">
              <a:buFontTx/>
              <a:buChar char="-"/>
            </a:pPr>
            <a:r>
              <a:rPr lang="en-US" dirty="0"/>
              <a:t>LED strip, over SPI: a fast data line that tells each LED what color to be. Goes through a level shifter first because </a:t>
            </a:r>
            <a:r>
              <a:rPr lang="en-US" dirty="0" err="1"/>
              <a:t>PocketBeagle</a:t>
            </a:r>
            <a:r>
              <a:rPr lang="en-US" dirty="0"/>
              <a:t> speaks at 3.3V and the strip expects 5V.</a:t>
            </a:r>
          </a:p>
          <a:p>
            <a:pPr marL="171450" indent="-171450">
              <a:buFontTx/>
              <a:buChar char="-"/>
            </a:pPr>
            <a:r>
              <a:rPr lang="en-US" dirty="0"/>
              <a:t>Buzzer, over PWM: the pin switches on and off very fast, and the speed sets the pitch of the sound.</a:t>
            </a:r>
          </a:p>
          <a:p>
            <a:pPr marL="171450" indent="-171450">
              <a:buFontTx/>
              <a:buChar char="-"/>
            </a:pPr>
            <a:r>
              <a:rPr lang="en-US" b="0" dirty="0"/>
              <a:t>µSD card: </a:t>
            </a:r>
            <a:r>
              <a:rPr lang="en-US" dirty="0"/>
              <a:t>where Linux, code and saved stats live.</a:t>
            </a:r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timestamp each press when it happens, using edge detection, instead of checking the buttons one after another in a loop</a:t>
            </a:r>
          </a:p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869989-EB00-4EE7-BCB5-25BDC5BB29F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3860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Power comes in from a 5V wall adapter through the micro USB port</a:t>
            </a:r>
          </a:p>
          <a:p>
            <a:pPr marL="171450" indent="-171450">
              <a:buFontTx/>
              <a:buChar char="-"/>
            </a:pPr>
            <a:r>
              <a:rPr lang="en-US" dirty="0" err="1"/>
              <a:t>Pocketbeagle</a:t>
            </a:r>
            <a:r>
              <a:rPr lang="en-US" dirty="0"/>
              <a:t> hands it out on three rails</a:t>
            </a:r>
          </a:p>
          <a:p>
            <a:pPr marL="628650" lvl="1" indent="-171450">
              <a:buFontTx/>
              <a:buChar char="-"/>
            </a:pPr>
            <a:r>
              <a:rPr lang="en-US" dirty="0"/>
              <a:t>5V (red) for the LED strip</a:t>
            </a:r>
          </a:p>
          <a:p>
            <a:pPr marL="628650" lvl="1" indent="-171450">
              <a:buFontTx/>
              <a:buChar char="-"/>
            </a:pPr>
            <a:r>
              <a:rPr lang="en-US" dirty="0"/>
              <a:t>3.3V (blue) for the display, buzzer, and buttons</a:t>
            </a:r>
          </a:p>
          <a:p>
            <a:pPr marL="628650" lvl="1" indent="-171450">
              <a:buFontTx/>
              <a:buChar char="-"/>
            </a:pPr>
            <a:r>
              <a:rPr lang="en-US" dirty="0"/>
              <a:t>1.8V (green): only for difficulty knob. The analog input can’t handle more than 1.8V, so the knob must be wired here</a:t>
            </a:r>
          </a:p>
          <a:p>
            <a:pPr marL="0" lvl="0" indent="0">
              <a:buFontTx/>
              <a:buNone/>
            </a:pPr>
            <a:r>
              <a:rPr lang="en-US" dirty="0"/>
              <a:t>Led is the main power draw so I’ll cap brightness in the software and use a 2 A wall adapter</a:t>
            </a:r>
          </a:p>
          <a:p>
            <a:pPr marL="0" lvl="0" indent="0">
              <a:buFontTx/>
              <a:buNone/>
            </a:pPr>
            <a:r>
              <a:rPr lang="en-US" dirty="0"/>
              <a:t>How do you recommend controlling the LED strip from the </a:t>
            </a:r>
            <a:r>
              <a:rPr lang="en-US" dirty="0" err="1"/>
              <a:t>PocketBeagle</a:t>
            </a:r>
            <a:r>
              <a:rPr lang="en-US"/>
              <a:t>?</a:t>
            </a:r>
            <a:endParaRPr lang="en-US" dirty="0"/>
          </a:p>
          <a:p>
            <a:pPr marL="628650" lvl="1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869989-EB00-4EE7-BCB5-25BDC5BB29F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2032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Will the parts-list level shifter (</a:t>
            </a:r>
            <a:r>
              <a:rPr lang="en-US" dirty="0" err="1"/>
              <a:t>pocketbeagle’s</a:t>
            </a:r>
            <a:r>
              <a:rPr lang="en-US" dirty="0"/>
              <a:t> pins put out 3.3 V, and the LED strip expects a 5 V data signal) be fast enough for the LED strip?</a:t>
            </a:r>
          </a:p>
          <a:p>
            <a:r>
              <a:rPr lang="en-US" dirty="0"/>
              <a:t>Are the arcade buttons OK or should I just use the kit buttons?</a:t>
            </a:r>
          </a:p>
          <a:p>
            <a:r>
              <a:rPr lang="en-US" dirty="0"/>
              <a:t>Instead do a row of the kit LEDs as a rope?</a:t>
            </a:r>
          </a:p>
          <a:p>
            <a:r>
              <a:rPr lang="en-US" dirty="0"/>
              <a:t>Potentiometer </a:t>
            </a:r>
            <a:r>
              <a:rPr lang="en-US" dirty="0">
                <a:sym typeface="Wingdings" pitchFamily="2" charset="2"/>
              </a:rPr>
              <a:t> difficulty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869989-EB00-4EE7-BCB5-25BDC5BB29F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0388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1" dirty="0">
                <a:solidFill>
                  <a:srgbClr val="546E7A"/>
                </a:solidFill>
                <a:latin typeface="Calibri"/>
              </a:rPr>
              <a:t>Also: </a:t>
            </a:r>
            <a:r>
              <a:rPr lang="en-US" sz="1200" b="0" i="1" dirty="0" err="1">
                <a:solidFill>
                  <a:srgbClr val="546E7A"/>
                </a:solidFill>
                <a:latin typeface="Calibri"/>
              </a:rPr>
              <a:t>configure_pins.sh</a:t>
            </a:r>
            <a:r>
              <a:rPr lang="en-US" sz="1200" b="0" i="1" dirty="0">
                <a:solidFill>
                  <a:srgbClr val="546E7A"/>
                </a:solidFill>
                <a:latin typeface="Calibri"/>
              </a:rPr>
              <a:t> (I2C, SPI, PWM, GPIO pins) and run script → started at boot by </a:t>
            </a:r>
            <a:r>
              <a:rPr lang="en-US" sz="1200" b="0" i="1" dirty="0" err="1">
                <a:solidFill>
                  <a:srgbClr val="546E7A"/>
                </a:solidFill>
                <a:latin typeface="Calibri"/>
              </a:rPr>
              <a:t>cron</a:t>
            </a:r>
            <a:endParaRPr lang="en-US" sz="1200" b="0" i="1" dirty="0">
              <a:solidFill>
                <a:srgbClr val="546E7A"/>
              </a:solidFill>
              <a:latin typeface="Calibri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869989-EB00-4EE7-BCB5-25BDC5BB29F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3883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869989-EB00-4EE7-BCB5-25BDC5BB29F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746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6" name="Straight Connector 5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3" name="Group 22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1" name="Straight Connector 40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6" name="Group 45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2" name="Straight Connector 51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Straight Connector 52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Straight Connector 53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7" name="Straight Connector 46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4" name="Group 23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5" name="Straight Connector 24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0" name="Group 29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6" name="Straight Connector 35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Straight Connector 36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1" name="Straight Connector 30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3845" y="1909346"/>
            <a:ext cx="9604310" cy="3383280"/>
          </a:xfrm>
        </p:spPr>
        <p:txBody>
          <a:bodyPr anchor="b">
            <a:normAutofit/>
          </a:bodyPr>
          <a:lstStyle>
            <a:lvl1pPr algn="l">
              <a:lnSpc>
                <a:spcPct val="76000"/>
              </a:lnSpc>
              <a:defRPr sz="8000"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3845" y="5432564"/>
            <a:ext cx="9604310" cy="4572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cxnSp>
        <p:nvCxnSpPr>
          <p:cNvPr id="58" name="Straight Connector 57"/>
          <p:cNvCxnSpPr/>
          <p:nvPr userDrawn="1"/>
        </p:nvCxnSpPr>
        <p:spPr>
          <a:xfrm>
            <a:off x="1295400" y="5294175"/>
            <a:ext cx="960120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8862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295400"/>
            <a:ext cx="10972800" cy="472439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74B5B-21A0-4192-BF4C-38187F1A68D8}" type="datetime1">
              <a:rPr lang="en-US" smtClean="0"/>
              <a:t>10/20/26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444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gradFill flip="none" rotWithShape="1">
          <a:gsLst>
            <a:gs pos="0">
              <a:schemeClr val="accent1"/>
            </a:gs>
            <a:gs pos="97000">
              <a:schemeClr val="accent1">
                <a:lumMod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8" name="Straight Connector 7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4" name="Group 23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2" name="Straight Connector 41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7" name="Group 46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3" name="Straight Connector 52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Straight Connector 53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8" name="Straight Connector 47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5" name="Group 24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6" name="Straight Connector 25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1" name="Group 30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7" name="Straight Connector 36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2" name="Straight Connector 31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0" y="2541573"/>
            <a:ext cx="9601200" cy="2743200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6000"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5431536"/>
            <a:ext cx="9601200" cy="45720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58" name="Straight Connector 57"/>
          <p:cNvCxnSpPr/>
          <p:nvPr userDrawn="1"/>
        </p:nvCxnSpPr>
        <p:spPr>
          <a:xfrm>
            <a:off x="1295400" y="5294175"/>
            <a:ext cx="96012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67780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5400" y="1981199"/>
            <a:ext cx="4572000" cy="38100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24600" y="1981199"/>
            <a:ext cx="4572000" cy="38100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5CF7C-B333-48E1-A4A6-83A3C8B73AC0}" type="datetime1">
              <a:rPr lang="en-US" smtClean="0"/>
              <a:t>10/20/26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567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1818322"/>
            <a:ext cx="4572000" cy="64135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2503713"/>
            <a:ext cx="4572000" cy="3287487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24600" y="1818322"/>
            <a:ext cx="4572000" cy="64135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24600" y="2503713"/>
            <a:ext cx="4572000" cy="3287487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20762-5CBF-4210-AB54-376B091119F8}" type="datetime1">
              <a:rPr lang="en-US" smtClean="0"/>
              <a:t>10/20/26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906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DB371-BF5F-4058-A212-1A908E4D2674}" type="datetime1">
              <a:rPr lang="en-US" smtClean="0"/>
              <a:t>10/20/26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976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1" name="Group 160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162" name="Straight Connector 161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162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165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166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167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168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Connector 169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Connector 170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8" name="Group 177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196" name="Straight Connector 195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7" name="Straight Connector 196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8" name="Straight Connector 197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9" name="Straight Connector 198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0" name="Straight Connector 199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01" name="Group 200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207" name="Straight Connector 206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8" name="Straight Connector 207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9" name="Straight Connector 208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0" name="Straight Connector 209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1" name="Straight Connector 210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02" name="Straight Connector 201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3" name="Straight Connector 202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4" name="Straight Connector 203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" name="Straight Connector 204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6" name="Straight Connector 205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9" name="Group 178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180" name="Straight Connector 179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Straight Connector 180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2" name="Straight Connector 181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3" name="Straight Connector 182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4" name="Straight Connector 183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85" name="Group 184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91" name="Straight Connector 190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2" name="Straight Connector 191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3" name="Straight Connector 192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4" name="Straight Connector 193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5" name="Straight Connector 194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86" name="Straight Connector 185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7" name="Straight Connector 186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8" name="Straight Connector 187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9" name="Straight Connector 188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0" name="Straight Connector 189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13" name="Footer Placeholder 2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212" name="Date Placeholder 2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4083B-90AA-48CF-BAD5-00AA24D7F288}" type="datetime1">
              <a:rPr lang="en-US" smtClean="0"/>
              <a:t>10/20/26</a:t>
            </a:fld>
            <a:endParaRPr lang="en-US"/>
          </a:p>
        </p:txBody>
      </p:sp>
      <p:sp>
        <p:nvSpPr>
          <p:cNvPr id="214" name="Slide Number Placeholder 2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817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Pr>
        <a:gradFill flip="none" rotWithShape="1">
          <a:gsLst>
            <a:gs pos="0">
              <a:schemeClr val="accent1"/>
            </a:gs>
            <a:gs pos="100000">
              <a:schemeClr val="accent1">
                <a:lumMod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10" name="Straight Connector 9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6" name="Group 25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4" name="Straight Connector 43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9" name="Group 48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Connector 57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" name="Straight Connector 58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7" name="Group 26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8" name="Straight Connector 27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3" name="Group 32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7" name="Rectangle 6"/>
          <p:cNvSpPr/>
          <p:nvPr userDrawn="1"/>
        </p:nvSpPr>
        <p:spPr>
          <a:xfrm>
            <a:off x="0" y="0"/>
            <a:ext cx="7315200" cy="6858000"/>
          </a:xfrm>
          <a:prstGeom prst="rect">
            <a:avLst/>
          </a:prstGeom>
          <a:gradFill>
            <a:gsLst>
              <a:gs pos="69000">
                <a:schemeClr val="bg1"/>
              </a:gs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13152" y="571500"/>
            <a:ext cx="3657600" cy="2197100"/>
          </a:xfrm>
        </p:spPr>
        <p:txBody>
          <a:bodyPr anchor="b">
            <a:normAutofit/>
          </a:bodyPr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3197" y="571500"/>
            <a:ext cx="6217920" cy="5715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13152" y="2995012"/>
            <a:ext cx="3657600" cy="228595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60" name="Straight Connector 59"/>
          <p:cNvCxnSpPr/>
          <p:nvPr userDrawn="1"/>
        </p:nvCxnSpPr>
        <p:spPr>
          <a:xfrm>
            <a:off x="7923089" y="2895600"/>
            <a:ext cx="365931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5BAF629-ECA2-4CF3-B790-9D9BDED98269}" type="datetime1">
              <a:rPr lang="en-US" smtClean="0"/>
              <a:pPr/>
              <a:t>10/20/26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31375A4-56A4-47D6-9801-1991572033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374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Pr>
        <a:gradFill flip="none" rotWithShape="1">
          <a:gsLst>
            <a:gs pos="0">
              <a:schemeClr val="accent1"/>
            </a:gs>
            <a:gs pos="100000">
              <a:schemeClr val="accent1">
                <a:lumMod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9" name="Straight Connector 8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5" name="Group 24"/>
            <p:cNvGrpSpPr/>
            <p:nvPr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3" name="Straight Connector 42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8" name="Group 47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4" name="Straight Connector 53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Connector 57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9" name="Straight Connector 48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6" name="Group 25"/>
            <p:cNvGrpSpPr/>
            <p:nvPr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7" name="Straight Connector 26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2" name="Group 31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8" name="Straight Connector 37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3" name="Straight Connector 32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60" name="Rectangle 59"/>
          <p:cNvSpPr/>
          <p:nvPr/>
        </p:nvSpPr>
        <p:spPr>
          <a:xfrm>
            <a:off x="0" y="0"/>
            <a:ext cx="7315200" cy="6858000"/>
          </a:xfrm>
          <a:prstGeom prst="rect">
            <a:avLst/>
          </a:prstGeom>
          <a:gradFill>
            <a:gsLst>
              <a:gs pos="69000">
                <a:schemeClr val="bg1"/>
              </a:gs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9" name="Straight Connector 58"/>
          <p:cNvCxnSpPr/>
          <p:nvPr/>
        </p:nvCxnSpPr>
        <p:spPr>
          <a:xfrm>
            <a:off x="7923089" y="2895600"/>
            <a:ext cx="365931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09560" y="576072"/>
            <a:ext cx="3657600" cy="2194560"/>
          </a:xfrm>
        </p:spPr>
        <p:txBody>
          <a:bodyPr anchor="b">
            <a:normAutofit/>
          </a:bodyPr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4412" y="-159"/>
            <a:ext cx="7315200" cy="6858000"/>
          </a:xfrm>
        </p:spPr>
        <p:txBody>
          <a:bodyPr tIns="45720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09560" y="2999232"/>
            <a:ext cx="3657600" cy="2286000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20318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A29A4-78C8-47AB-BA06-22CB45938951}" type="datetime1">
              <a:rPr lang="en-US" smtClean="0"/>
              <a:t>10/20/26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154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09314" y="489856"/>
            <a:ext cx="1687286" cy="530134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9" y="489856"/>
            <a:ext cx="7587344" cy="5301343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D4ACF-2D82-46F2-A8E9-23963AA34E86}" type="datetime1">
              <a:rPr lang="en-US" smtClean="0"/>
              <a:t>10/20/26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635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3000">
              <a:schemeClr val="bg1"/>
            </a:gs>
            <a:gs pos="0">
              <a:schemeClr val="bg1">
                <a:lumMod val="100000"/>
              </a:schemeClr>
            </a:gs>
            <a:gs pos="100000">
              <a:schemeClr val="bg1">
                <a:lumMod val="95000"/>
                <a:alpha val="6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Group 95"/>
          <p:cNvGrpSpPr/>
          <p:nvPr userDrawn="1"/>
        </p:nvGrpSpPr>
        <p:grpSpPr bwMode="hidden">
          <a:xfrm>
            <a:off x="-1" y="-195943"/>
            <a:ext cx="12192002" cy="6858000"/>
            <a:chOff x="-1" y="0"/>
            <a:chExt cx="12192002" cy="6858000"/>
          </a:xfrm>
        </p:grpSpPr>
        <p:cxnSp>
          <p:nvCxnSpPr>
            <p:cNvPr id="97" name="Straight Connector 96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3" name="Group 112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131" name="Straight Connector 130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Straight Connector 131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Straight Connector 132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Straight Connector 133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Straight Connector 134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36" name="Group 135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42" name="Straight Connector 141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3" name="Straight Connector 142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4" name="Straight Connector 143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5" name="Straight Connector 144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6" name="Straight Connector 145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37" name="Straight Connector 136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Straight Connector 137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Straight Connector 138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Straight Connector 139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Straight Connector 140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4" name="Group 113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115" name="Straight Connector 114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Straight Connector 115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Connector 116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Straight Connector 117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Straight Connector 118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20" name="Group 119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26" name="Straight Connector 125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7" name="Straight Connector 126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8" name="Straight Connector 127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9" name="Straight Connector 128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0" name="Straight Connector 129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21" name="Straight Connector 120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Straight Connector 121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Connector 122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Straight Connector 123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Straight Connector 124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0" y="503853"/>
            <a:ext cx="9601200" cy="114238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1981201"/>
            <a:ext cx="9601200" cy="38099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48" name="Straight Connector 147"/>
          <p:cNvCxnSpPr/>
          <p:nvPr userDrawn="1"/>
        </p:nvCxnSpPr>
        <p:spPr>
          <a:xfrm>
            <a:off x="609600" y="6172200"/>
            <a:ext cx="10972800" cy="0"/>
          </a:xfrm>
          <a:prstGeom prst="line">
            <a:avLst/>
          </a:prstGeom>
          <a:ln w="127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601" y="6289679"/>
            <a:ext cx="6128030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294042" y="6289679"/>
            <a:ext cx="965946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fld id="{B51B2453-8663-4C69-AF73-9FD7B1DEC5D0}" type="datetime1">
              <a:rPr lang="en-US" smtClean="0"/>
              <a:pPr/>
              <a:t>10/20/26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65311" y="6289679"/>
            <a:ext cx="918882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fld id="{E31375A4-56A4-47D6-9801-1991572033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3259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9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179388" algn="l" defTabSz="914400" rtl="0" eaLnBrk="1" latinLnBrk="0" hangingPunct="1">
        <a:lnSpc>
          <a:spcPct val="90000"/>
        </a:lnSpc>
        <a:spcBef>
          <a:spcPts val="8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182880" algn="l" defTabSz="914400" rtl="0" eaLnBrk="1" latinLnBrk="0" hangingPunct="1">
        <a:lnSpc>
          <a:spcPct val="90000"/>
        </a:lnSpc>
        <a:spcBef>
          <a:spcPts val="8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179388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600200" indent="-179388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82880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878012" indent="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mazon.com/dp/B08GSCJPMD?lv=shuf&amp;channelId=500&amp;plpRedirect=mhFallback&amp;th=1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adafruit.com/product/473" TargetMode="External"/><Relationship Id="rId4" Type="http://schemas.openxmlformats.org/officeDocument/2006/relationships/hyperlink" Target="https://www.amazon.com/EPLZON-Converter-Bi-Directional-Compatible-Raspberry/dp/B09R1QG957" TargetMode="Externa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3844" y="1909346"/>
            <a:ext cx="9907555" cy="3383280"/>
          </a:xfrm>
        </p:spPr>
        <p:txBody>
          <a:bodyPr>
            <a:normAutofit/>
          </a:bodyPr>
          <a:lstStyle/>
          <a:p>
            <a:r>
              <a:rPr lang="en-US" sz="6000" dirty="0"/>
              <a:t>EDES 301</a:t>
            </a:r>
            <a:br>
              <a:rPr lang="en-US" sz="6000" dirty="0"/>
            </a:br>
            <a:br>
              <a:rPr lang="en-US" dirty="0"/>
            </a:br>
            <a:r>
              <a:rPr lang="en-US" sz="6000" dirty="0"/>
              <a:t>Reaction Tug-of-War Proposal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3845" y="5432564"/>
            <a:ext cx="9604310" cy="1120636"/>
          </a:xfrm>
        </p:spPr>
        <p:txBody>
          <a:bodyPr/>
          <a:lstStyle/>
          <a:p>
            <a:r>
              <a:rPr lang="en-US" dirty="0"/>
              <a:t>10/01/2026</a:t>
            </a:r>
          </a:p>
          <a:p>
            <a:r>
              <a:rPr lang="en-US" dirty="0"/>
              <a:t>Jordyn Mariam</a:t>
            </a:r>
          </a:p>
        </p:txBody>
      </p:sp>
    </p:spTree>
    <p:extLst>
      <p:ext uri="{BB962C8B-B14F-4D97-AF65-F5344CB8AC3E}">
        <p14:creationId xmlns:p14="http://schemas.microsoft.com/office/powerpoint/2010/main" val="1069049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B257B0-C0C1-CDB1-A941-8ECCF5118E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DB7CE8-4B14-BE12-A306-26D3794797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184330-CA66-B0F7-577F-F52EC7239E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95400"/>
            <a:ext cx="6972300" cy="4724399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/>
              <a:t>What is being proposed?</a:t>
            </a:r>
          </a:p>
          <a:p>
            <a:pPr lvl="1"/>
            <a:r>
              <a:rPr lang="en-US" dirty="0"/>
              <a:t>A 2-player reaction game on the </a:t>
            </a:r>
            <a:r>
              <a:rPr lang="en-US" dirty="0" err="1"/>
              <a:t>PocketBeagle</a:t>
            </a:r>
            <a:endParaRPr lang="en-US" dirty="0"/>
          </a:p>
          <a:p>
            <a:pPr lvl="2"/>
            <a:r>
              <a:rPr lang="en-US" dirty="0"/>
              <a:t>After a random “GO” cue, whoever reacts first and hits their button first pulls a light on an LED-strip “rope” one step toward their side</a:t>
            </a:r>
          </a:p>
          <a:p>
            <a:pPr lvl="2"/>
            <a:r>
              <a:rPr lang="en-US" dirty="0"/>
              <a:t>First player to pull the rope to their end wins</a:t>
            </a:r>
          </a:p>
          <a:p>
            <a:pPr lvl="2"/>
            <a:r>
              <a:rPr lang="en-US" dirty="0"/>
              <a:t>The display will show each round’s reaction time</a:t>
            </a:r>
          </a:p>
          <a:p>
            <a:pPr lvl="3"/>
            <a:r>
              <a:rPr lang="en-US" dirty="0"/>
              <a:t>Possibly build in a punishment if react too early</a:t>
            </a:r>
            <a:r>
              <a:rPr lang="en-US" dirty="0">
                <a:sym typeface="Wingdings" pitchFamily="2" charset="2"/>
              </a:rPr>
              <a:t> (move one step towards the opponent)</a:t>
            </a:r>
            <a:endParaRPr lang="en-US" dirty="0"/>
          </a:p>
          <a:p>
            <a:r>
              <a:rPr lang="en-US" b="1" dirty="0"/>
              <a:t>Improvements / additions over existing project</a:t>
            </a:r>
          </a:p>
          <a:p>
            <a:pPr lvl="1"/>
            <a:r>
              <a:rPr lang="en-US" dirty="0"/>
              <a:t>This game was inspired and builds on the </a:t>
            </a:r>
            <a:r>
              <a:rPr lang="en-US" dirty="0" err="1"/>
              <a:t>Whac</a:t>
            </a:r>
            <a:r>
              <a:rPr lang="en-US" dirty="0"/>
              <a:t>-a-Mole Game with </a:t>
            </a:r>
            <a:r>
              <a:rPr lang="en-US" dirty="0" err="1"/>
              <a:t>PocketBeagle</a:t>
            </a:r>
            <a:r>
              <a:rPr lang="en-US" dirty="0"/>
              <a:t> (Welsh &amp; Wicks, </a:t>
            </a:r>
            <a:r>
              <a:rPr lang="en-US" dirty="0" err="1"/>
              <a:t>Hackster.io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Libraries: </a:t>
            </a:r>
            <a:r>
              <a:rPr lang="en-US" dirty="0" err="1"/>
              <a:t>Adafruit_BBIO</a:t>
            </a:r>
            <a:r>
              <a:rPr lang="en-US" dirty="0"/>
              <a:t> (GPIO, PWM, ADC), HT16K33 7-segment driver, </a:t>
            </a:r>
            <a:r>
              <a:rPr lang="en-US" dirty="0" err="1"/>
              <a:t>spidev</a:t>
            </a:r>
            <a:r>
              <a:rPr lang="en-US" dirty="0"/>
              <a:t> (WS2812 LED strip over SPI)</a:t>
            </a:r>
          </a:p>
          <a:p>
            <a:pPr lvl="1"/>
            <a:r>
              <a:rPr lang="en-US" dirty="0"/>
              <a:t>From 1 player chasing a score </a:t>
            </a:r>
            <a:r>
              <a:rPr lang="en-US" dirty="0">
                <a:sym typeface="Wingdings" pitchFamily="2" charset="2"/>
              </a:rPr>
              <a:t> 2 players head-to-head (maybe add a 1-player mode)</a:t>
            </a:r>
          </a:p>
          <a:p>
            <a:pPr lvl="1"/>
            <a:r>
              <a:rPr lang="en-US" dirty="0">
                <a:sym typeface="Wingdings" pitchFamily="2" charset="2"/>
              </a:rPr>
              <a:t>4 single LEDs  addressable LED strip “rope”</a:t>
            </a:r>
          </a:p>
          <a:p>
            <a:pPr lvl="1"/>
            <a:r>
              <a:rPr lang="en-US" dirty="0">
                <a:sym typeface="Wingdings" pitchFamily="2" charset="2"/>
              </a:rPr>
              <a:t>Hit/miss scoring  millisecond reaction timing with first-press detection</a:t>
            </a:r>
          </a:p>
          <a:p>
            <a:pPr lvl="1"/>
            <a:r>
              <a:rPr lang="en-US" dirty="0">
                <a:sym typeface="Wingdings" pitchFamily="2" charset="2"/>
              </a:rPr>
              <a:t>New: false-start penalty, best reaction stats saved across reboots</a:t>
            </a:r>
            <a:br>
              <a:rPr lang="en-US" dirty="0">
                <a:sym typeface="Wingdings" pitchFamily="2" charset="2"/>
              </a:rPr>
            </a:br>
            <a:endParaRPr lang="en-US" dirty="0"/>
          </a:p>
          <a:p>
            <a:pPr lvl="1"/>
            <a:endParaRPr lang="en-US" dirty="0"/>
          </a:p>
          <a:p>
            <a:endParaRPr lang="en-US" b="1" dirty="0"/>
          </a:p>
          <a:p>
            <a:pPr lvl="1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FDCF27F-FB7C-327B-3C7C-613665B786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2018" y="1308100"/>
            <a:ext cx="3907334" cy="191741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12F1723-6A94-4C0C-E829-EA0BC71B295E}"/>
              </a:ext>
            </a:extLst>
          </p:cNvPr>
          <p:cNvSpPr txBox="1"/>
          <p:nvPr/>
        </p:nvSpPr>
        <p:spPr>
          <a:xfrm>
            <a:off x="7942018" y="3419631"/>
            <a:ext cx="4059482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My story:</a:t>
            </a:r>
          </a:p>
          <a:p>
            <a:r>
              <a:rPr lang="en-US" sz="1600" dirty="0"/>
              <a:t>I originally was going to focus my project on something to help with studying, but I instead decided I wanted to do something more fun </a:t>
            </a:r>
            <a:r>
              <a:rPr lang="en-US" sz="1600" dirty="0">
                <a:sym typeface="Wingdings" pitchFamily="2" charset="2"/>
              </a:rPr>
              <a:t>. I wanted to build upon </a:t>
            </a:r>
            <a:r>
              <a:rPr lang="en-US" sz="1600" dirty="0" err="1">
                <a:sym typeface="Wingdings" pitchFamily="2" charset="2"/>
              </a:rPr>
              <a:t>Whac</a:t>
            </a:r>
            <a:r>
              <a:rPr lang="en-US" sz="1600" dirty="0">
                <a:sym typeface="Wingdings" pitchFamily="2" charset="2"/>
              </a:rPr>
              <a:t>-a-Mole by making it a head-to-head game that can be played with my friends and family to hopefully illustrate all that I’ve learned in EDES 301.</a:t>
            </a:r>
          </a:p>
        </p:txBody>
      </p:sp>
    </p:spTree>
    <p:extLst>
      <p:ext uri="{BB962C8B-B14F-4D97-AF65-F5344CB8AC3E}">
        <p14:creationId xmlns:p14="http://schemas.microsoft.com/office/powerpoint/2010/main" val="2212717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5B93E4-AB7E-4F3D-B6C5-4ED4B78FA4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Block Diagram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803D816-E2BE-F321-079C-4E161177B6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1295399"/>
            <a:ext cx="10553700" cy="4700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7825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DFEA3-93A8-4943-9F3A-4798FB13F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Power Block Diagram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A48AFF8-53F4-56CC-C86B-1D9F439D7B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2190" y="1428750"/>
            <a:ext cx="9827619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4615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71467B-51C2-4E0B-B52A-83BD9F0EB8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Components / Budget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0B47F4B-CB02-4D02-BE84-F6BC57D0FE2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52318345"/>
              </p:ext>
            </p:extLst>
          </p:nvPr>
        </p:nvGraphicFramePr>
        <p:xfrm>
          <a:off x="609600" y="1295400"/>
          <a:ext cx="10972800" cy="360680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7837714">
                  <a:extLst>
                    <a:ext uri="{9D8B030D-6E8A-4147-A177-3AD203B41FA5}">
                      <a16:colId xmlns:a16="http://schemas.microsoft.com/office/drawing/2014/main" val="3675253430"/>
                    </a:ext>
                  </a:extLst>
                </a:gridCol>
                <a:gridCol w="1567543">
                  <a:extLst>
                    <a:ext uri="{9D8B030D-6E8A-4147-A177-3AD203B41FA5}">
                      <a16:colId xmlns:a16="http://schemas.microsoft.com/office/drawing/2014/main" val="1372058784"/>
                    </a:ext>
                  </a:extLst>
                </a:gridCol>
                <a:gridCol w="1567543">
                  <a:extLst>
                    <a:ext uri="{9D8B030D-6E8A-4147-A177-3AD203B41FA5}">
                      <a16:colId xmlns:a16="http://schemas.microsoft.com/office/drawing/2014/main" val="3565830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EDES301</a:t>
                      </a:r>
                    </a:p>
                    <a:p>
                      <a:pPr algn="ctr"/>
                      <a:r>
                        <a:rPr lang="en-US" dirty="0"/>
                        <a:t> to Buy?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68007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PocketBeagle</a:t>
                      </a:r>
                      <a:r>
                        <a:rPr lang="en-US" dirty="0"/>
                        <a:t>, jumper wires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 Kit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135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4-digit, 7-segment display w/I2C backpack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 Kit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51266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Buzzer, potentiometer, button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 Kit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74935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Addressable LED strip (WS2812B, small strips) </a:t>
                      </a:r>
                      <a:r>
                        <a:rPr lang="en-US" dirty="0">
                          <a:hlinkClick r:id="rId3"/>
                        </a:rPr>
                        <a:t>[Amazon link]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$17.99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28408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Level shifter (1 in 5 pack) </a:t>
                      </a:r>
                      <a:r>
                        <a:rPr lang="en-US" dirty="0">
                          <a:hlinkClick r:id="rId4"/>
                        </a:rPr>
                        <a:t>[Amazon link]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$1.60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83561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Arcade buttons (not necessary but fun add) x 2 [</a:t>
                      </a:r>
                      <a:r>
                        <a:rPr lang="en-US" dirty="0">
                          <a:hlinkClick r:id="rId5"/>
                        </a:rPr>
                        <a:t>Adafruit link</a:t>
                      </a:r>
                      <a:r>
                        <a:rPr lang="en-US" dirty="0"/>
                        <a:t>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$11.90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44892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/>
                      <a:r>
                        <a:rPr 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 V / 2 A USB wall adapter</a:t>
                      </a:r>
                      <a:endParaRPr lang="en-US" b="0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 own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7708406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rtl="0"/>
                      <a:r>
                        <a:rPr lang="en-US" b="0" dirty="0">
                          <a:effectLst/>
                        </a:rPr>
                        <a:t>Total purchasing cost: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$31.49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30441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1248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Software Block Diagram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343400" y="1325880"/>
            <a:ext cx="3520440" cy="4343400"/>
          </a:xfrm>
          <a:prstGeom prst="roundRect">
            <a:avLst>
              <a:gd name="adj" fmla="val 10000"/>
            </a:avLst>
          </a:prstGeom>
          <a:solidFill>
            <a:srgbClr val="8FB8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27432" rIns="182880" bIns="27432" rtlCol="0" anchor="t"/>
          <a:lstStyle/>
          <a:p>
            <a:pPr algn="ctr"/>
            <a:r>
              <a:rPr sz="1600" b="1" i="0" dirty="0" err="1">
                <a:solidFill>
                  <a:srgbClr val="263238"/>
                </a:solidFill>
                <a:latin typeface="Calibri"/>
              </a:rPr>
              <a:t>TugOfWarGame</a:t>
            </a:r>
            <a:endParaRPr sz="1600" b="1" i="0" dirty="0">
              <a:solidFill>
                <a:srgbClr val="263238"/>
              </a:solidFill>
              <a:latin typeface="Calibri"/>
            </a:endParaRPr>
          </a:p>
          <a:p>
            <a:pPr algn="ctr"/>
            <a:r>
              <a:rPr sz="900" b="0" i="1" dirty="0" err="1">
                <a:solidFill>
                  <a:srgbClr val="263238"/>
                </a:solidFill>
                <a:latin typeface="Calibri"/>
              </a:rPr>
              <a:t>tug_of_war.p</a:t>
            </a:r>
            <a:r>
              <a:rPr lang="en-US" sz="900" b="0" i="1" dirty="0" err="1">
                <a:solidFill>
                  <a:srgbClr val="263238"/>
                </a:solidFill>
                <a:latin typeface="Calibri"/>
              </a:rPr>
              <a:t>y</a:t>
            </a:r>
            <a:endParaRPr sz="900" b="0" i="1" dirty="0">
              <a:solidFill>
                <a:srgbClr val="263238"/>
              </a:solidFill>
              <a:latin typeface="Calibri"/>
            </a:endParaRPr>
          </a:p>
          <a:p>
            <a:pPr algn="l"/>
            <a:endParaRPr lang="en-US" sz="1100" b="0" i="0" dirty="0">
              <a:solidFill>
                <a:srgbClr val="263238"/>
              </a:solidFill>
              <a:latin typeface="Calibri"/>
            </a:endParaRPr>
          </a:p>
          <a:p>
            <a:pPr algn="l"/>
            <a:r>
              <a:rPr sz="1100" b="0" i="0" dirty="0">
                <a:solidFill>
                  <a:srgbClr val="263238"/>
                </a:solidFill>
                <a:latin typeface="Calibri"/>
              </a:rPr>
              <a:t>State: rope position, mode, difficulty,</a:t>
            </a:r>
            <a:r>
              <a:rPr lang="en-US" sz="1100" b="0" i="0" dirty="0">
                <a:solidFill>
                  <a:srgbClr val="263238"/>
                </a:solidFill>
                <a:latin typeface="Calibri"/>
              </a:rPr>
              <a:t> </a:t>
            </a:r>
            <a:r>
              <a:rPr sz="1100" b="0" i="0" dirty="0">
                <a:solidFill>
                  <a:srgbClr val="263238"/>
                </a:solidFill>
                <a:latin typeface="Calibri"/>
              </a:rPr>
              <a:t>round start time, best times</a:t>
            </a:r>
          </a:p>
          <a:p>
            <a:pPr algn="ctr"/>
            <a:endParaRPr sz="1100" b="0" i="0" dirty="0">
              <a:solidFill>
                <a:srgbClr val="263238"/>
              </a:solidFill>
              <a:latin typeface="Calibri"/>
            </a:endParaRPr>
          </a:p>
          <a:p>
            <a:pPr algn="l"/>
            <a:r>
              <a:rPr sz="1100" b="0" i="0" dirty="0">
                <a:solidFill>
                  <a:srgbClr val="263238"/>
                </a:solidFill>
                <a:latin typeface="Calibri"/>
              </a:rPr>
              <a:t>_setup()  – create + initialize all drivers</a:t>
            </a:r>
          </a:p>
          <a:p>
            <a:pPr algn="l"/>
            <a:r>
              <a:rPr sz="1100" b="0" i="0" dirty="0">
                <a:solidFill>
                  <a:srgbClr val="263238"/>
                </a:solidFill>
                <a:latin typeface="Calibri"/>
              </a:rPr>
              <a:t>run()  – main loop (see flow diagram)</a:t>
            </a:r>
          </a:p>
          <a:p>
            <a:pPr algn="l"/>
            <a:r>
              <a:rPr sz="1100" b="0" i="0" dirty="0" err="1">
                <a:solidFill>
                  <a:srgbClr val="263238"/>
                </a:solidFill>
                <a:latin typeface="Calibri"/>
              </a:rPr>
              <a:t>select_mode</a:t>
            </a:r>
            <a:r>
              <a:rPr sz="1100" b="0" i="0" dirty="0">
                <a:solidFill>
                  <a:srgbClr val="263238"/>
                </a:solidFill>
                <a:latin typeface="Calibri"/>
              </a:rPr>
              <a:t>()  – 1P vs CPU or 2P</a:t>
            </a:r>
          </a:p>
          <a:p>
            <a:pPr algn="l"/>
            <a:r>
              <a:rPr sz="1100" b="0" i="0" dirty="0" err="1">
                <a:solidFill>
                  <a:srgbClr val="263238"/>
                </a:solidFill>
                <a:latin typeface="Calibri"/>
              </a:rPr>
              <a:t>play_round</a:t>
            </a:r>
            <a:r>
              <a:rPr sz="1100" b="0" i="0" dirty="0">
                <a:solidFill>
                  <a:srgbClr val="263238"/>
                </a:solidFill>
                <a:latin typeface="Calibri"/>
              </a:rPr>
              <a:t>()  – random wait, GO, judge</a:t>
            </a:r>
          </a:p>
          <a:p>
            <a:pPr algn="l"/>
            <a:r>
              <a:rPr sz="1100" b="0" i="0" dirty="0" err="1">
                <a:solidFill>
                  <a:srgbClr val="263238"/>
                </a:solidFill>
                <a:latin typeface="Calibri"/>
              </a:rPr>
              <a:t>false_start</a:t>
            </a:r>
            <a:r>
              <a:rPr sz="1100" b="0" i="0" dirty="0">
                <a:solidFill>
                  <a:srgbClr val="263238"/>
                </a:solidFill>
                <a:latin typeface="Calibri"/>
              </a:rPr>
              <a:t>(player)</a:t>
            </a:r>
          </a:p>
          <a:p>
            <a:pPr algn="l"/>
            <a:r>
              <a:rPr sz="1100" b="0" i="0" dirty="0" err="1">
                <a:solidFill>
                  <a:srgbClr val="263238"/>
                </a:solidFill>
                <a:latin typeface="Calibri"/>
              </a:rPr>
              <a:t>cpu_reaction_ms</a:t>
            </a:r>
            <a:r>
              <a:rPr sz="1100" b="0" i="0" dirty="0">
                <a:solidFill>
                  <a:srgbClr val="263238"/>
                </a:solidFill>
                <a:latin typeface="Calibri"/>
              </a:rPr>
              <a:t>()  – from difficulty</a:t>
            </a:r>
          </a:p>
          <a:p>
            <a:pPr algn="l"/>
            <a:r>
              <a:rPr sz="1100" b="0" i="0" dirty="0">
                <a:solidFill>
                  <a:srgbClr val="263238"/>
                </a:solidFill>
                <a:latin typeface="Calibri"/>
              </a:rPr>
              <a:t>victory(player)</a:t>
            </a:r>
          </a:p>
          <a:p>
            <a:pPr algn="l"/>
            <a:r>
              <a:rPr sz="1100" b="0" i="0" dirty="0">
                <a:solidFill>
                  <a:srgbClr val="263238"/>
                </a:solidFill>
                <a:latin typeface="Calibri"/>
              </a:rPr>
              <a:t>cleanup()  – on Ctrl-C</a:t>
            </a:r>
          </a:p>
          <a:p>
            <a:pPr algn="ctr"/>
            <a:endParaRPr sz="1100" b="0" i="0" dirty="0">
              <a:solidFill>
                <a:srgbClr val="263238"/>
              </a:solidFill>
              <a:latin typeface="Calibri"/>
            </a:endParaRPr>
          </a:p>
          <a:p>
            <a:pPr algn="l"/>
            <a:r>
              <a:rPr sz="1000" b="1" i="0" dirty="0">
                <a:solidFill>
                  <a:srgbClr val="263238"/>
                </a:solidFill>
                <a:latin typeface="Calibri"/>
              </a:rPr>
              <a:t>Python libraries used:</a:t>
            </a:r>
          </a:p>
          <a:p>
            <a:pPr algn="l"/>
            <a:r>
              <a:rPr sz="1000" b="0" i="0" dirty="0" err="1">
                <a:solidFill>
                  <a:srgbClr val="263238"/>
                </a:solidFill>
                <a:latin typeface="Calibri"/>
              </a:rPr>
              <a:t>Adafruit_BBIO</a:t>
            </a:r>
            <a:r>
              <a:rPr sz="1000" b="0" i="0" dirty="0">
                <a:solidFill>
                  <a:srgbClr val="263238"/>
                </a:solidFill>
                <a:latin typeface="Calibri"/>
              </a:rPr>
              <a:t> (GPIO, ADC, PWM), </a:t>
            </a:r>
            <a:r>
              <a:rPr sz="1000" b="0" i="0" dirty="0" err="1">
                <a:solidFill>
                  <a:srgbClr val="263238"/>
                </a:solidFill>
                <a:latin typeface="Calibri"/>
              </a:rPr>
              <a:t>spidev</a:t>
            </a:r>
            <a:r>
              <a:rPr sz="1000" b="0" i="0" dirty="0">
                <a:solidFill>
                  <a:srgbClr val="263238"/>
                </a:solidFill>
                <a:latin typeface="Calibri"/>
              </a:rPr>
              <a:t>,</a:t>
            </a:r>
          </a:p>
          <a:p>
            <a:pPr algn="l"/>
            <a:r>
              <a:rPr sz="1000" b="0" i="0" dirty="0" err="1">
                <a:solidFill>
                  <a:srgbClr val="263238"/>
                </a:solidFill>
                <a:latin typeface="Calibri"/>
              </a:rPr>
              <a:t>smbus</a:t>
            </a:r>
            <a:r>
              <a:rPr sz="1000" b="0" i="0" dirty="0">
                <a:solidFill>
                  <a:srgbClr val="263238"/>
                </a:solidFill>
                <a:latin typeface="Calibri"/>
              </a:rPr>
              <a:t> (I2C), time, random, </a:t>
            </a:r>
            <a:r>
              <a:rPr sz="1000" b="0" i="0" dirty="0" err="1">
                <a:solidFill>
                  <a:srgbClr val="263238"/>
                </a:solidFill>
                <a:latin typeface="Calibri"/>
              </a:rPr>
              <a:t>json</a:t>
            </a:r>
            <a:endParaRPr sz="1000" b="0" i="0" dirty="0">
              <a:solidFill>
                <a:srgbClr val="263238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326880" y="1097280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546E7A"/>
                </a:solidFill>
                <a:latin typeface="Calibri"/>
              </a:rPr>
              <a:t>USER OUTPUTS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" y="1371600"/>
            <a:ext cx="2331720" cy="731520"/>
          </a:xfrm>
          <a:prstGeom prst="roundRect">
            <a:avLst>
              <a:gd name="adj" fmla="val 10000"/>
            </a:avLst>
          </a:prstGeom>
          <a:solidFill>
            <a:srgbClr val="E6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PlayerButton  (P1)</a:t>
            </a:r>
          </a:p>
          <a:p>
            <a:pPr algn="ctr"/>
            <a:r>
              <a:rPr sz="900" b="0" i="1">
                <a:solidFill>
                  <a:srgbClr val="FFFFFF"/>
                </a:solidFill>
                <a:latin typeface="Calibri"/>
              </a:rPr>
              <a:t>player_button.py → extends Button</a:t>
            </a:r>
          </a:p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GPIO P2_02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944368" y="1737360"/>
            <a:ext cx="1399032" cy="0"/>
          </a:xfrm>
          <a:prstGeom prst="line">
            <a:avLst/>
          </a:prstGeom>
          <a:ln w="19050">
            <a:solidFill>
              <a:srgbClr val="26323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990088" y="1536192"/>
            <a:ext cx="1325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1B5EA8"/>
                </a:solidFill>
                <a:latin typeface="Calibri"/>
              </a:rPr>
              <a:t>get_press_time()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" y="2286000"/>
            <a:ext cx="2331720" cy="731520"/>
          </a:xfrm>
          <a:prstGeom prst="roundRect">
            <a:avLst>
              <a:gd name="adj" fmla="val 10000"/>
            </a:avLst>
          </a:prstGeom>
          <a:solidFill>
            <a:srgbClr val="E6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PlayerButton  (P2)</a:t>
            </a:r>
          </a:p>
          <a:p>
            <a:pPr algn="ctr"/>
            <a:r>
              <a:rPr sz="900" b="0" i="1">
                <a:solidFill>
                  <a:srgbClr val="FFFFFF"/>
                </a:solidFill>
                <a:latin typeface="Calibri"/>
              </a:rPr>
              <a:t>player_button.py → extends Button</a:t>
            </a:r>
          </a:p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GPIO P2_04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944368" y="2651760"/>
            <a:ext cx="1399032" cy="0"/>
          </a:xfrm>
          <a:prstGeom prst="line">
            <a:avLst/>
          </a:prstGeom>
          <a:ln w="19050">
            <a:solidFill>
              <a:srgbClr val="26323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990088" y="2450591"/>
            <a:ext cx="1325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1B5EA8"/>
                </a:solidFill>
                <a:latin typeface="Calibri"/>
              </a:rPr>
              <a:t>get_press_time()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" y="3200400"/>
            <a:ext cx="2331720" cy="731520"/>
          </a:xfrm>
          <a:prstGeom prst="roundRect">
            <a:avLst>
              <a:gd name="adj" fmla="val 1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Button  (start / mode)</a:t>
            </a:r>
          </a:p>
          <a:p>
            <a:pPr algn="ctr"/>
            <a:r>
              <a:rPr sz="900" b="0" i="1">
                <a:solidFill>
                  <a:srgbClr val="FFFFFF"/>
                </a:solidFill>
                <a:latin typeface="Calibri"/>
              </a:rPr>
              <a:t>button.py  (HW #4)</a:t>
            </a:r>
          </a:p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GPIO P2_06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944368" y="3566160"/>
            <a:ext cx="1399032" cy="0"/>
          </a:xfrm>
          <a:prstGeom prst="line">
            <a:avLst/>
          </a:prstGeom>
          <a:ln w="19050">
            <a:solidFill>
              <a:srgbClr val="26323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990088" y="3218688"/>
            <a:ext cx="1325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1B5EA8"/>
                </a:solidFill>
                <a:latin typeface="Calibri"/>
              </a:rPr>
              <a:t>wait_for_press()</a:t>
            </a:r>
          </a:p>
          <a:p>
            <a:pPr algn="l"/>
            <a:r>
              <a:rPr sz="900" b="0" i="0">
                <a:solidFill>
                  <a:srgbClr val="1B5EA8"/>
                </a:solidFill>
                <a:latin typeface="Calibri"/>
              </a:rPr>
              <a:t>get_last_press_duration()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" y="4114800"/>
            <a:ext cx="2331720" cy="731520"/>
          </a:xfrm>
          <a:prstGeom prst="roundRect">
            <a:avLst>
              <a:gd name="adj" fmla="val 1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Potentiometer</a:t>
            </a:r>
          </a:p>
          <a:p>
            <a:pPr algn="ctr"/>
            <a:r>
              <a:rPr sz="900" b="0" i="1">
                <a:solidFill>
                  <a:srgbClr val="FFFFFF"/>
                </a:solidFill>
                <a:latin typeface="Calibri"/>
              </a:rPr>
              <a:t>potentiometer.py  (class)</a:t>
            </a:r>
          </a:p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AIN0 P1_19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944368" y="4480560"/>
            <a:ext cx="1399032" cy="0"/>
          </a:xfrm>
          <a:prstGeom prst="line">
            <a:avLst/>
          </a:prstGeom>
          <a:ln w="19050">
            <a:solidFill>
              <a:srgbClr val="26323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990088" y="4279392"/>
            <a:ext cx="1325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1B5EA8"/>
                </a:solidFill>
                <a:latin typeface="Calibri"/>
              </a:rPr>
              <a:t>get_value()  → 0–4095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81160" y="1371600"/>
            <a:ext cx="2304288" cy="731520"/>
          </a:xfrm>
          <a:prstGeom prst="roundRect">
            <a:avLst>
              <a:gd name="adj" fmla="val 1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HT16K33</a:t>
            </a:r>
          </a:p>
          <a:p>
            <a:pPr algn="ctr"/>
            <a:r>
              <a:rPr sz="900" b="0" i="1">
                <a:solidFill>
                  <a:srgbClr val="FFFFFF"/>
                </a:solidFill>
                <a:latin typeface="Calibri"/>
              </a:rPr>
              <a:t>ht16k33.py  (class)</a:t>
            </a:r>
          </a:p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I2C1 – 7-seg display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863840" y="1737360"/>
            <a:ext cx="1417320" cy="0"/>
          </a:xfrm>
          <a:prstGeom prst="line">
            <a:avLst/>
          </a:prstGeom>
          <a:ln w="19050">
            <a:solidFill>
              <a:srgbClr val="26323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927848" y="1389888"/>
            <a:ext cx="1325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1B5EA8"/>
                </a:solidFill>
                <a:latin typeface="Calibri"/>
              </a:rPr>
              <a:t>update(ms)</a:t>
            </a:r>
          </a:p>
          <a:p>
            <a:pPr algn="l"/>
            <a:r>
              <a:rPr sz="900" b="0" i="0">
                <a:solidFill>
                  <a:srgbClr val="1B5EA8"/>
                </a:solidFill>
                <a:latin typeface="Calibri"/>
              </a:rPr>
              <a:t>text('rdy')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81160" y="2286000"/>
            <a:ext cx="2304288" cy="731520"/>
          </a:xfrm>
          <a:prstGeom prst="roundRect">
            <a:avLst>
              <a:gd name="adj" fmla="val 10000"/>
            </a:avLst>
          </a:prstGeom>
          <a:solidFill>
            <a:srgbClr val="E6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Rope</a:t>
            </a:r>
          </a:p>
          <a:p>
            <a:pPr algn="ctr"/>
            <a:r>
              <a:rPr sz="900" b="0" i="1">
                <a:solidFill>
                  <a:srgbClr val="FFFFFF"/>
                </a:solidFill>
                <a:latin typeface="Calibri"/>
              </a:rPr>
              <a:t>rope.py</a:t>
            </a:r>
          </a:p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game view of LED strip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863840" y="2651760"/>
            <a:ext cx="1417320" cy="0"/>
          </a:xfrm>
          <a:prstGeom prst="line">
            <a:avLst/>
          </a:prstGeom>
          <a:ln w="19050">
            <a:solidFill>
              <a:srgbClr val="26323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927848" y="2304288"/>
            <a:ext cx="1325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1B5EA8"/>
                </a:solidFill>
                <a:latin typeface="Calibri"/>
              </a:rPr>
              <a:t>draw(position)</a:t>
            </a:r>
          </a:p>
          <a:p>
            <a:pPr algn="l"/>
            <a:r>
              <a:rPr sz="900" b="0" i="0">
                <a:solidFill>
                  <a:srgbClr val="1B5EA8"/>
                </a:solidFill>
                <a:latin typeface="Calibri"/>
              </a:rPr>
              <a:t>flash()  win_anim()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81160" y="4114800"/>
            <a:ext cx="2304288" cy="731520"/>
          </a:xfrm>
          <a:prstGeom prst="roundRect">
            <a:avLst>
              <a:gd name="adj" fmla="val 10000"/>
            </a:avLst>
          </a:prstGeom>
          <a:solidFill>
            <a:srgbClr val="E6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Buzzer</a:t>
            </a:r>
          </a:p>
          <a:p>
            <a:pPr algn="ctr"/>
            <a:r>
              <a:rPr sz="900" b="0" i="1">
                <a:solidFill>
                  <a:srgbClr val="FFFFFF"/>
                </a:solidFill>
                <a:latin typeface="Calibri"/>
              </a:rPr>
              <a:t>buzzer.py  (PWM)</a:t>
            </a:r>
          </a:p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PWM1A P2_01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863840" y="4480560"/>
            <a:ext cx="1417320" cy="0"/>
          </a:xfrm>
          <a:prstGeom prst="line">
            <a:avLst/>
          </a:prstGeom>
          <a:ln w="19050">
            <a:solidFill>
              <a:srgbClr val="26323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927848" y="4279392"/>
            <a:ext cx="1325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1B5EA8"/>
                </a:solidFill>
                <a:latin typeface="Calibri"/>
              </a:rPr>
              <a:t>play(freq, length)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81160" y="5029200"/>
            <a:ext cx="2304288" cy="731520"/>
          </a:xfrm>
          <a:prstGeom prst="roundRect">
            <a:avLst>
              <a:gd name="adj" fmla="val 10000"/>
            </a:avLst>
          </a:prstGeom>
          <a:solidFill>
            <a:srgbClr val="E6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StatsStore</a:t>
            </a:r>
          </a:p>
          <a:p>
            <a:pPr algn="ctr"/>
            <a:r>
              <a:rPr sz="900" b="0" i="1">
                <a:solidFill>
                  <a:srgbClr val="FFFFFF"/>
                </a:solidFill>
                <a:latin typeface="Calibri"/>
              </a:rPr>
              <a:t>stats.py</a:t>
            </a:r>
          </a:p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JSON file on µSD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863840" y="5394960"/>
            <a:ext cx="1417320" cy="0"/>
          </a:xfrm>
          <a:prstGeom prst="line">
            <a:avLst/>
          </a:prstGeom>
          <a:ln w="19050">
            <a:solidFill>
              <a:srgbClr val="26323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927848" y="5047488"/>
            <a:ext cx="1325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1B5EA8"/>
                </a:solidFill>
                <a:latin typeface="Calibri"/>
              </a:rPr>
              <a:t>record(p, ms)</a:t>
            </a:r>
          </a:p>
          <a:p>
            <a:pPr algn="l"/>
            <a:r>
              <a:rPr sz="900" b="0" i="0">
                <a:solidFill>
                  <a:srgbClr val="1B5EA8"/>
                </a:solidFill>
                <a:latin typeface="Calibri"/>
              </a:rPr>
              <a:t>get_best()  save()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281160" y="3200400"/>
            <a:ext cx="2304288" cy="731520"/>
          </a:xfrm>
          <a:prstGeom prst="roundRect">
            <a:avLst>
              <a:gd name="adj" fmla="val 10000"/>
            </a:avLst>
          </a:prstGeom>
          <a:solidFill>
            <a:srgbClr val="E6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LEDStrip</a:t>
            </a:r>
          </a:p>
          <a:p>
            <a:pPr algn="ctr"/>
            <a:r>
              <a:rPr sz="900" b="0" i="1">
                <a:solidFill>
                  <a:srgbClr val="FFFFFF"/>
                </a:solidFill>
                <a:latin typeface="Calibri"/>
              </a:rPr>
              <a:t>led_strip.py  (WS2812 via spidev)</a:t>
            </a:r>
          </a:p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SPI0 MOSI P1_12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10433304" y="3017520"/>
            <a:ext cx="0" cy="182880"/>
          </a:xfrm>
          <a:prstGeom prst="line">
            <a:avLst/>
          </a:prstGeom>
          <a:ln w="19050">
            <a:solidFill>
              <a:srgbClr val="26323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7909560" y="2926080"/>
            <a:ext cx="1325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1B5EA8"/>
                </a:solidFill>
                <a:latin typeface="Calibri"/>
              </a:rPr>
              <a:t>set_pixel()  show()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2648" y="5815584"/>
            <a:ext cx="256032" cy="164592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60120" y="5788152"/>
            <a:ext cx="28346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46E7A"/>
                </a:solidFill>
                <a:latin typeface="Calibri"/>
              </a:rPr>
              <a:t>Already written (class / homework)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904488" y="5815584"/>
            <a:ext cx="256032" cy="164592"/>
          </a:xfrm>
          <a:prstGeom prst="rect">
            <a:avLst/>
          </a:prstGeom>
          <a:solidFill>
            <a:srgbClr val="E6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251960" y="5788152"/>
            <a:ext cx="28346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46E7A"/>
                </a:solidFill>
                <a:latin typeface="Calibri"/>
              </a:rPr>
              <a:t>To be written for this project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75120" y="5760720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1">
                <a:solidFill>
                  <a:srgbClr val="1B5EA8"/>
                </a:solidFill>
                <a:latin typeface="Calibri"/>
              </a:rPr>
              <a:t>Blue text = API calls between classes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Classes and HW API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12648" y="1234440"/>
          <a:ext cx="1097280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Class</a:t>
                      </a:r>
                    </a:p>
                  </a:txBody>
                  <a:tcPr marL="54864" marR="54864" marT="27432" marB="27432" anchor="ctr">
                    <a:solidFill>
                      <a:srgbClr val="263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File</a:t>
                      </a:r>
                    </a:p>
                  </a:txBody>
                  <a:tcPr marL="54864" marR="54864" marT="27432" marB="27432" anchor="ctr">
                    <a:solidFill>
                      <a:srgbClr val="263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L="54864" marR="54864" marT="27432" marB="27432" anchor="ctr">
                    <a:solidFill>
                      <a:srgbClr val="263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Functions (preliminary API)</a:t>
                      </a:r>
                    </a:p>
                  </a:txBody>
                  <a:tcPr marL="54864" marR="54864" marT="27432" marB="27432" anchor="ctr">
                    <a:solidFill>
                      <a:srgbClr val="263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Purpose</a:t>
                      </a:r>
                    </a:p>
                  </a:txBody>
                  <a:tcPr marL="54864" marR="54864" marT="27432" marB="27432" anchor="ctr">
                    <a:solidFill>
                      <a:srgbClr val="2632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63238"/>
                          </a:solidFill>
                          <a:latin typeface="Calibri"/>
                        </a:rPr>
                        <a:t>TugOfWarGame</a:t>
                      </a:r>
                    </a:p>
                  </a:txBody>
                  <a:tcPr marL="54864" marR="54864" marT="27432" marB="27432" anchor="ctr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3238"/>
                          </a:solidFill>
                          <a:latin typeface="Calibri"/>
                        </a:rPr>
                        <a:t>tug_of_war.py</a:t>
                      </a:r>
                    </a:p>
                  </a:txBody>
                  <a:tcPr marL="54864" marR="54864" marT="27432" marB="27432" anchor="ctr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E66A00"/>
                          </a:solidFill>
                          <a:latin typeface="Calibri"/>
                        </a:rPr>
                        <a:t>To write</a:t>
                      </a:r>
                    </a:p>
                  </a:txBody>
                  <a:tcPr marL="54864" marR="54864" marT="27432" marB="27432" anchor="ctr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5EA8"/>
                          </a:solidFill>
                          <a:latin typeface="Calibri"/>
                        </a:rPr>
                        <a:t>_setup(), run(), cleanup(), select_mode(), play_round(), false_start(p), cpu_reaction_ms(), victory(p)</a:t>
                      </a:r>
                    </a:p>
                  </a:txBody>
                  <a:tcPr marL="54864" marR="54864" marT="27432" marB="27432" anchor="ctr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3238"/>
                          </a:solidFill>
                          <a:latin typeface="Calibri"/>
                        </a:rPr>
                        <a:t>Main program and game logic</a:t>
                      </a:r>
                    </a:p>
                  </a:txBody>
                  <a:tcPr marL="54864" marR="54864" marT="27432" marB="27432" anchor="ctr">
                    <a:solidFill>
                      <a:srgbClr val="F4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sz="1000" b="1" dirty="0" err="1">
                          <a:solidFill>
                            <a:srgbClr val="263238"/>
                          </a:solidFill>
                          <a:latin typeface="Calibri"/>
                        </a:rPr>
                        <a:t>PlayerButton</a:t>
                      </a:r>
                      <a:endParaRPr sz="1000" b="1" dirty="0">
                        <a:solidFill>
                          <a:srgbClr val="263238"/>
                        </a:solidFill>
                        <a:latin typeface="Calibri"/>
                      </a:endParaRP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3238"/>
                          </a:solidFill>
                          <a:latin typeface="Calibri"/>
                        </a:rPr>
                        <a:t>player_button.py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E66A00"/>
                          </a:solidFill>
                          <a:latin typeface="Calibri"/>
                        </a:rPr>
                        <a:t>To write</a:t>
                      </a:r>
                    </a:p>
                    <a:p>
                      <a:r>
                        <a:rPr sz="900" b="1">
                          <a:solidFill>
                            <a:srgbClr val="E66A00"/>
                          </a:solidFill>
                          <a:latin typeface="Calibri"/>
                        </a:rPr>
                        <a:t>(extends Button)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5EA8"/>
                          </a:solidFill>
                          <a:latin typeface="Calibri"/>
                        </a:rPr>
                        <a:t>arm(), disarm(), was_pressed(), get_press_time()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3238"/>
                          </a:solidFill>
                          <a:latin typeface="Calibri"/>
                        </a:rPr>
                        <a:t>Timestamps each arcade-button press with GPIO edge detection so the first press wins fairly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63238"/>
                          </a:solidFill>
                          <a:latin typeface="Calibri"/>
                        </a:rPr>
                        <a:t>Button</a:t>
                      </a:r>
                    </a:p>
                  </a:txBody>
                  <a:tcPr marL="54864" marR="54864" marT="27432" marB="27432" anchor="ctr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3238"/>
                          </a:solidFill>
                          <a:latin typeface="Calibri"/>
                        </a:rPr>
                        <a:t>button.py</a:t>
                      </a:r>
                    </a:p>
                  </a:txBody>
                  <a:tcPr marL="54864" marR="54864" marT="27432" marB="27432" anchor="ctr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E7D32"/>
                          </a:solidFill>
                          <a:latin typeface="Calibri"/>
                        </a:rPr>
                        <a:t>Done (HW #4)</a:t>
                      </a:r>
                    </a:p>
                  </a:txBody>
                  <a:tcPr marL="54864" marR="54864" marT="27432" marB="27432" anchor="ctr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5EA8"/>
                          </a:solidFill>
                          <a:latin typeface="Calibri"/>
                        </a:rPr>
                        <a:t>is_pressed(), wait_for_press(), get_last_press_duration()</a:t>
                      </a:r>
                    </a:p>
                  </a:txBody>
                  <a:tcPr marL="54864" marR="54864" marT="27432" marB="27432" anchor="ctr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3238"/>
                          </a:solidFill>
                          <a:latin typeface="Calibri"/>
                        </a:rPr>
                        <a:t>Start / mode button (short press = 2P, hold &gt; 2 s = 1P)</a:t>
                      </a:r>
                    </a:p>
                  </a:txBody>
                  <a:tcPr marL="54864" marR="54864" marT="27432" marB="27432" anchor="ctr">
                    <a:solidFill>
                      <a:srgbClr val="F4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63238"/>
                          </a:solidFill>
                          <a:latin typeface="Calibri"/>
                        </a:rPr>
                        <a:t>Potentiometer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3238"/>
                          </a:solidFill>
                          <a:latin typeface="Calibri"/>
                        </a:rPr>
                        <a:t>potentiometer.py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E7D32"/>
                          </a:solidFill>
                          <a:latin typeface="Calibri"/>
                        </a:rPr>
                        <a:t>Done (class)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5EA8"/>
                          </a:solidFill>
                          <a:latin typeface="Calibri"/>
                        </a:rPr>
                        <a:t>get_value()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3238"/>
                          </a:solidFill>
                          <a:latin typeface="Calibri"/>
                        </a:rPr>
                        <a:t>Difficulty knob (CPU speed)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63238"/>
                          </a:solidFill>
                          <a:latin typeface="Calibri"/>
                        </a:rPr>
                        <a:t>HT16K33</a:t>
                      </a:r>
                    </a:p>
                  </a:txBody>
                  <a:tcPr marL="54864" marR="54864" marT="27432" marB="27432" anchor="ctr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3238"/>
                          </a:solidFill>
                          <a:latin typeface="Calibri"/>
                        </a:rPr>
                        <a:t>ht16k33.py</a:t>
                      </a:r>
                    </a:p>
                  </a:txBody>
                  <a:tcPr marL="54864" marR="54864" marT="27432" marB="27432" anchor="ctr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E7D32"/>
                          </a:solidFill>
                          <a:latin typeface="Calibri"/>
                        </a:rPr>
                        <a:t>Done (class)</a:t>
                      </a:r>
                    </a:p>
                  </a:txBody>
                  <a:tcPr marL="54864" marR="54864" marT="27432" marB="27432" anchor="ctr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5EA8"/>
                          </a:solidFill>
                          <a:latin typeface="Calibri"/>
                        </a:rPr>
                        <a:t>clear(), blank(), update(value), text(str)</a:t>
                      </a:r>
                    </a:p>
                  </a:txBody>
                  <a:tcPr marL="54864" marR="54864" marT="27432" marB="27432" anchor="ctr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3238"/>
                          </a:solidFill>
                          <a:latin typeface="Calibri"/>
                        </a:rPr>
                        <a:t>Reaction time, “rdy”, winner (P1 / P2)</a:t>
                      </a:r>
                    </a:p>
                  </a:txBody>
                  <a:tcPr marL="54864" marR="54864" marT="27432" marB="27432" anchor="ctr">
                    <a:solidFill>
                      <a:srgbClr val="F4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63238"/>
                          </a:solidFill>
                          <a:latin typeface="Calibri"/>
                        </a:rPr>
                        <a:t>LEDStrip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3238"/>
                          </a:solidFill>
                          <a:latin typeface="Calibri"/>
                        </a:rPr>
                        <a:t>led_strip.py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E66A00"/>
                          </a:solidFill>
                          <a:latin typeface="Calibri"/>
                        </a:rPr>
                        <a:t>To write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5EA8"/>
                          </a:solidFill>
                          <a:latin typeface="Calibri"/>
                        </a:rPr>
                        <a:t>set_pixel(i, color), fill(color), show(), clear(), set_brightness(b)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3238"/>
                          </a:solidFill>
                          <a:latin typeface="Calibri"/>
                        </a:rPr>
                        <a:t>WS2812 driver over SPI (spidev); brightness capped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63238"/>
                          </a:solidFill>
                          <a:latin typeface="Calibri"/>
                        </a:rPr>
                        <a:t>Rope</a:t>
                      </a:r>
                    </a:p>
                  </a:txBody>
                  <a:tcPr marL="54864" marR="54864" marT="27432" marB="27432" anchor="ctr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3238"/>
                          </a:solidFill>
                          <a:latin typeface="Calibri"/>
                        </a:rPr>
                        <a:t>rope.py</a:t>
                      </a:r>
                    </a:p>
                  </a:txBody>
                  <a:tcPr marL="54864" marR="54864" marT="27432" marB="27432" anchor="ctr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E66A00"/>
                          </a:solidFill>
                          <a:latin typeface="Calibri"/>
                        </a:rPr>
                        <a:t>To write</a:t>
                      </a:r>
                    </a:p>
                  </a:txBody>
                  <a:tcPr marL="54864" marR="54864" marT="27432" marB="27432" anchor="ctr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5EA8"/>
                          </a:solidFill>
                          <a:latin typeface="Calibri"/>
                        </a:rPr>
                        <a:t>draw(position), flash(color), win_animation(player), idle()</a:t>
                      </a:r>
                    </a:p>
                  </a:txBody>
                  <a:tcPr marL="54864" marR="54864" marT="27432" marB="27432" anchor="ctr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3238"/>
                          </a:solidFill>
                          <a:latin typeface="Calibri"/>
                        </a:rPr>
                        <a:t>Turns rope position into LED patterns</a:t>
                      </a:r>
                    </a:p>
                  </a:txBody>
                  <a:tcPr marL="54864" marR="54864" marT="27432" marB="27432" anchor="ctr">
                    <a:solidFill>
                      <a:srgbClr val="F4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63238"/>
                          </a:solidFill>
                          <a:latin typeface="Calibri"/>
                        </a:rPr>
                        <a:t>Buzzer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3238"/>
                          </a:solidFill>
                          <a:latin typeface="Calibri"/>
                        </a:rPr>
                        <a:t>buzzer.py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E66A00"/>
                          </a:solidFill>
                          <a:latin typeface="Calibri"/>
                        </a:rPr>
                        <a:t>To write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5EA8"/>
                          </a:solidFill>
                          <a:latin typeface="Calibri"/>
                        </a:rPr>
                        <a:t>play(freq, length), stop()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3238"/>
                          </a:solidFill>
                          <a:latin typeface="Calibri"/>
                        </a:rPr>
                        <a:t>GO beep, false-start buzz, victory tune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63238"/>
                          </a:solidFill>
                          <a:latin typeface="Calibri"/>
                        </a:rPr>
                        <a:t>StatsStore</a:t>
                      </a:r>
                    </a:p>
                  </a:txBody>
                  <a:tcPr marL="54864" marR="54864" marT="27432" marB="27432" anchor="ctr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3238"/>
                          </a:solidFill>
                          <a:latin typeface="Calibri"/>
                        </a:rPr>
                        <a:t>stats.py</a:t>
                      </a:r>
                    </a:p>
                  </a:txBody>
                  <a:tcPr marL="54864" marR="54864" marT="27432" marB="27432" anchor="ctr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E66A00"/>
                          </a:solidFill>
                          <a:latin typeface="Calibri"/>
                        </a:rPr>
                        <a:t>To write</a:t>
                      </a:r>
                    </a:p>
                  </a:txBody>
                  <a:tcPr marL="54864" marR="54864" marT="27432" marB="27432" anchor="ctr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5EA8"/>
                          </a:solidFill>
                          <a:latin typeface="Calibri"/>
                        </a:rPr>
                        <a:t>load(), save(), record(player, ms), get_best()</a:t>
                      </a:r>
                    </a:p>
                  </a:txBody>
                  <a:tcPr marL="54864" marR="54864" marT="27432" marB="27432" anchor="ctr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dirty="0">
                          <a:solidFill>
                            <a:srgbClr val="263238"/>
                          </a:solidFill>
                          <a:latin typeface="Calibri"/>
                        </a:rPr>
                        <a:t>Best reaction times / wins saved across reboots</a:t>
                      </a:r>
                    </a:p>
                  </a:txBody>
                  <a:tcPr marL="54864" marR="54864" marT="27432" marB="27432" anchor="ctr">
                    <a:solidFill>
                      <a:srgbClr val="F4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SW Flow Diagram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89320" y="1188720"/>
            <a:ext cx="5596128" cy="4754880"/>
          </a:xfrm>
          <a:prstGeom prst="roundRect">
            <a:avLst>
              <a:gd name="adj" fmla="val 8000"/>
            </a:avLst>
          </a:prstGeom>
          <a:noFill/>
          <a:ln w="25400">
            <a:solidFill>
              <a:srgbClr val="00000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756648" y="1280160"/>
            <a:ext cx="16916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300" b="1" i="0">
                <a:solidFill>
                  <a:srgbClr val="000000"/>
                </a:solidFill>
                <a:latin typeface="Calibri"/>
              </a:rPr>
              <a:t>Main Program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18120" y="1371600"/>
            <a:ext cx="2331720" cy="457200"/>
          </a:xfrm>
          <a:prstGeom prst="roundRect">
            <a:avLst>
              <a:gd name="adj" fmla="val 10000"/>
            </a:avLst>
          </a:prstGeom>
          <a:solidFill>
            <a:srgbClr val="4A8FBF"/>
          </a:solidFill>
          <a:ln w="12700">
            <a:solidFill>
              <a:srgbClr val="3570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27432" rIns="36576" bIns="27432" rtlCol="0" anchor="ctr"/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Setup</a:t>
            </a:r>
          </a:p>
          <a:p>
            <a:pPr algn="ctr"/>
            <a:r>
              <a:rPr sz="800" b="0" i="1">
                <a:solidFill>
                  <a:srgbClr val="E3F0F8"/>
                </a:solidFill>
                <a:latin typeface="Calibri"/>
              </a:rPr>
              <a:t>display.clear()  stats.load()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18120" y="2011680"/>
            <a:ext cx="2331720" cy="457200"/>
          </a:xfrm>
          <a:prstGeom prst="roundRect">
            <a:avLst>
              <a:gd name="adj" fmla="val 10000"/>
            </a:avLst>
          </a:prstGeom>
          <a:solidFill>
            <a:srgbClr val="4A8FBF"/>
          </a:solidFill>
          <a:ln w="12700">
            <a:solidFill>
              <a:srgbClr val="3570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27432" rIns="36576" bIns="27432" rtlCol="0" anchor="ctr"/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Wait for Start</a:t>
            </a:r>
          </a:p>
          <a:p>
            <a:pPr algn="ctr"/>
            <a:r>
              <a:rPr sz="800" b="0" i="1">
                <a:solidFill>
                  <a:srgbClr val="E3F0F8"/>
                </a:solidFill>
                <a:latin typeface="Calibri"/>
              </a:rPr>
              <a:t>start.wait_for_press()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18120" y="2697480"/>
            <a:ext cx="2331720" cy="457200"/>
          </a:xfrm>
          <a:prstGeom prst="roundRect">
            <a:avLst>
              <a:gd name="adj" fmla="val 10000"/>
            </a:avLst>
          </a:prstGeom>
          <a:solidFill>
            <a:srgbClr val="4A8FBF"/>
          </a:solidFill>
          <a:ln w="12700">
            <a:solidFill>
              <a:srgbClr val="3570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27432" rIns="36576" bIns="27432" rtlCol="0" anchor="ctr"/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New Game</a:t>
            </a:r>
          </a:p>
          <a:p>
            <a:pPr algn="ctr"/>
            <a:r>
              <a:rPr sz="800" b="0" i="1">
                <a:solidFill>
                  <a:srgbClr val="E3F0F8"/>
                </a:solidFill>
                <a:latin typeface="Calibri"/>
              </a:rPr>
              <a:t>get_last_press_duration()  pot.get_value()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3337560"/>
            <a:ext cx="2331720" cy="457200"/>
          </a:xfrm>
          <a:prstGeom prst="roundRect">
            <a:avLst>
              <a:gd name="adj" fmla="val 10000"/>
            </a:avLst>
          </a:prstGeom>
          <a:solidFill>
            <a:srgbClr val="4A8FBF"/>
          </a:solidFill>
          <a:ln w="12700">
            <a:solidFill>
              <a:srgbClr val="3570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27432" rIns="36576" bIns="27432" rtlCol="0" anchor="ctr"/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Play Round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18120" y="3977639"/>
            <a:ext cx="2331720" cy="457200"/>
          </a:xfrm>
          <a:prstGeom prst="roundRect">
            <a:avLst>
              <a:gd name="adj" fmla="val 10000"/>
            </a:avLst>
          </a:prstGeom>
          <a:solidFill>
            <a:srgbClr val="4A8FBF"/>
          </a:solidFill>
          <a:ln w="12700">
            <a:solidFill>
              <a:srgbClr val="3570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27432" rIns="36576" bIns="27432" rtlCol="0" anchor="ctr"/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Move Rope</a:t>
            </a:r>
          </a:p>
          <a:p>
            <a:pPr algn="ctr"/>
            <a:r>
              <a:rPr sz="800" b="0" i="1">
                <a:solidFill>
                  <a:srgbClr val="E3F0F8"/>
                </a:solidFill>
                <a:latin typeface="Calibri"/>
              </a:rPr>
              <a:t>rope.draw(pos)  display.update(ms)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18120" y="4617720"/>
            <a:ext cx="2331720" cy="457200"/>
          </a:xfrm>
          <a:prstGeom prst="roundRect">
            <a:avLst>
              <a:gd name="adj" fmla="val 10000"/>
            </a:avLst>
          </a:prstGeom>
          <a:solidFill>
            <a:srgbClr val="4A8FBF"/>
          </a:solidFill>
          <a:ln w="12700">
            <a:solidFill>
              <a:srgbClr val="3570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27432" rIns="36576" bIns="27432" rtlCol="0" anchor="ctr"/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Check Rope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18120" y="5257800"/>
            <a:ext cx="2331720" cy="457200"/>
          </a:xfrm>
          <a:prstGeom prst="roundRect">
            <a:avLst>
              <a:gd name="adj" fmla="val 10000"/>
            </a:avLst>
          </a:prstGeom>
          <a:solidFill>
            <a:srgbClr val="4A8FBF"/>
          </a:solidFill>
          <a:ln w="12700">
            <a:solidFill>
              <a:srgbClr val="3570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27432" rIns="36576" bIns="27432" rtlCol="0" anchor="ctr"/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Victory</a:t>
            </a:r>
          </a:p>
          <a:p>
            <a:pPr algn="ctr"/>
            <a:r>
              <a:rPr sz="800" b="0" i="1">
                <a:solidFill>
                  <a:srgbClr val="E3F0F8"/>
                </a:solidFill>
                <a:latin typeface="Calibri"/>
              </a:rPr>
              <a:t>rope.win_animation()  stats.save()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983980" y="1828800"/>
            <a:ext cx="0" cy="182880"/>
          </a:xfrm>
          <a:prstGeom prst="line">
            <a:avLst/>
          </a:prstGeom>
          <a:ln w="28575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983980" y="2468880"/>
            <a:ext cx="0" cy="228600"/>
          </a:xfrm>
          <a:prstGeom prst="line">
            <a:avLst/>
          </a:prstGeom>
          <a:ln w="28575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983980" y="3154680"/>
            <a:ext cx="0" cy="182880"/>
          </a:xfrm>
          <a:prstGeom prst="line">
            <a:avLst/>
          </a:prstGeom>
          <a:ln w="28575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983980" y="3794760"/>
            <a:ext cx="0" cy="182879"/>
          </a:xfrm>
          <a:prstGeom prst="line">
            <a:avLst/>
          </a:prstGeom>
          <a:ln w="28575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983980" y="4434840"/>
            <a:ext cx="0" cy="182880"/>
          </a:xfrm>
          <a:prstGeom prst="line">
            <a:avLst/>
          </a:prstGeom>
          <a:ln w="28575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983980" y="5074920"/>
            <a:ext cx="0" cy="182880"/>
          </a:xfrm>
          <a:prstGeom prst="line">
            <a:avLst/>
          </a:prstGeom>
          <a:ln w="28575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720840" y="1600200"/>
            <a:ext cx="1097280" cy="0"/>
          </a:xfrm>
          <a:prstGeom prst="line">
            <a:avLst/>
          </a:prstGeom>
          <a:ln w="28575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172200" y="164592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Calibri"/>
              </a:rPr>
              <a:t>Power up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0149840" y="2359152"/>
            <a:ext cx="22860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10378440" y="2121408"/>
            <a:ext cx="0" cy="237744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10149840" y="2121408"/>
            <a:ext cx="228600" cy="0"/>
          </a:xfrm>
          <a:prstGeom prst="line">
            <a:avLst/>
          </a:prstGeom>
          <a:ln w="28575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0442448" y="2130552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Calibri"/>
              </a:rPr>
              <a:t>No press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75420" y="2468880"/>
            <a:ext cx="24688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Calibri"/>
              </a:rPr>
              <a:t>Time &lt; 2s → 2P   Time &gt; 2s → 1P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75420" y="507492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Calibri"/>
              </a:rPr>
              <a:t>At end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0149840" y="4846320"/>
            <a:ext cx="41148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10561320" y="3566160"/>
            <a:ext cx="0" cy="128016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10149840" y="3566160"/>
            <a:ext cx="411480" cy="0"/>
          </a:xfrm>
          <a:prstGeom prst="line">
            <a:avLst/>
          </a:prstGeom>
          <a:ln w="28575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0625328" y="3977639"/>
            <a:ext cx="822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Calibri"/>
              </a:rPr>
              <a:t>Not at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alibri"/>
              </a:rPr>
              <a:t>end</a:t>
            </a:r>
          </a:p>
        </p:txBody>
      </p:sp>
      <p:cxnSp>
        <p:nvCxnSpPr>
          <p:cNvPr id="30" name="Connector 29"/>
          <p:cNvCxnSpPr/>
          <p:nvPr/>
        </p:nvCxnSpPr>
        <p:spPr>
          <a:xfrm flipH="1">
            <a:off x="7452360" y="5486400"/>
            <a:ext cx="36576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7452360" y="2240280"/>
            <a:ext cx="0" cy="324612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452360" y="2240280"/>
            <a:ext cx="365760" cy="0"/>
          </a:xfrm>
          <a:prstGeom prst="line">
            <a:avLst/>
          </a:prstGeom>
          <a:ln w="28575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172200" y="5349240"/>
            <a:ext cx="12344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Calibri"/>
              </a:rPr>
              <a:t>Ctrl-C (any state)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alibri"/>
              </a:rPr>
              <a:t>→ cleanup()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1188720"/>
            <a:ext cx="5120640" cy="3291840"/>
          </a:xfrm>
          <a:prstGeom prst="roundRect">
            <a:avLst>
              <a:gd name="adj" fmla="val 8000"/>
            </a:avLst>
          </a:prstGeom>
          <a:noFill/>
          <a:ln w="25400">
            <a:solidFill>
              <a:srgbClr val="00000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77240" y="1261872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000000"/>
                </a:solidFill>
                <a:latin typeface="Calibri"/>
              </a:rPr>
              <a:t>Play Round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4400" y="1645920"/>
            <a:ext cx="2331720" cy="457200"/>
          </a:xfrm>
          <a:prstGeom prst="roundRect">
            <a:avLst>
              <a:gd name="adj" fmla="val 10000"/>
            </a:avLst>
          </a:prstGeom>
          <a:solidFill>
            <a:srgbClr val="4A8FBF"/>
          </a:solidFill>
          <a:ln w="12700">
            <a:solidFill>
              <a:srgbClr val="3570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27432" rIns="36576" bIns="27432" rtlCol="0" anchor="ctr"/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Ready</a:t>
            </a:r>
          </a:p>
          <a:p>
            <a:pPr algn="ctr"/>
            <a:r>
              <a:rPr sz="800" b="0" i="1">
                <a:solidFill>
                  <a:srgbClr val="E3F0F8"/>
                </a:solidFill>
                <a:latin typeface="Calibri"/>
              </a:rPr>
              <a:t>random 1–4 s wait   p1/p2.arm()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" y="2395728"/>
            <a:ext cx="2331720" cy="457200"/>
          </a:xfrm>
          <a:prstGeom prst="roundRect">
            <a:avLst>
              <a:gd name="adj" fmla="val 10000"/>
            </a:avLst>
          </a:prstGeom>
          <a:solidFill>
            <a:srgbClr val="4A8FBF"/>
          </a:solidFill>
          <a:ln w="12700">
            <a:solidFill>
              <a:srgbClr val="3570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27432" rIns="36576" bIns="27432" rtlCol="0" anchor="ctr"/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GO!</a:t>
            </a:r>
          </a:p>
          <a:p>
            <a:pPr algn="ctr"/>
            <a:r>
              <a:rPr sz="800" b="0" i="1">
                <a:solidFill>
                  <a:srgbClr val="E3F0F8"/>
                </a:solidFill>
                <a:latin typeface="Calibri"/>
              </a:rPr>
              <a:t>buzzer.play()  rope.flash()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14400" y="3127248"/>
            <a:ext cx="2331720" cy="457200"/>
          </a:xfrm>
          <a:prstGeom prst="roundRect">
            <a:avLst>
              <a:gd name="adj" fmla="val 10000"/>
            </a:avLst>
          </a:prstGeom>
          <a:solidFill>
            <a:srgbClr val="4A8FBF"/>
          </a:solidFill>
          <a:ln w="12700">
            <a:solidFill>
              <a:srgbClr val="3570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27432" rIns="36576" bIns="27432" rtlCol="0" anchor="ctr"/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Wait for Press</a:t>
            </a:r>
          </a:p>
          <a:p>
            <a:pPr algn="ctr"/>
            <a:r>
              <a:rPr sz="800" b="0" i="1">
                <a:solidFill>
                  <a:srgbClr val="E3F0F8"/>
                </a:solidFill>
                <a:latin typeface="Calibri"/>
              </a:rPr>
              <a:t>p1/p2.was_pressed()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" y="3840480"/>
            <a:ext cx="2331720" cy="457200"/>
          </a:xfrm>
          <a:prstGeom prst="roundRect">
            <a:avLst>
              <a:gd name="adj" fmla="val 10000"/>
            </a:avLst>
          </a:prstGeom>
          <a:solidFill>
            <a:srgbClr val="4A8FBF"/>
          </a:solidFill>
          <a:ln w="12700">
            <a:solidFill>
              <a:srgbClr val="3570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27432" rIns="36576" bIns="27432" rtlCol="0" anchor="ctr"/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Pick Winner</a:t>
            </a:r>
          </a:p>
          <a:p>
            <a:pPr algn="ctr"/>
            <a:r>
              <a:rPr sz="800" b="0" i="1">
                <a:solidFill>
                  <a:srgbClr val="E3F0F8"/>
                </a:solidFill>
                <a:latin typeface="Calibri"/>
              </a:rPr>
              <a:t>get_press_time()  cpu_reaction_ms()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2080260" y="2103120"/>
            <a:ext cx="0" cy="292608"/>
          </a:xfrm>
          <a:prstGeom prst="line">
            <a:avLst/>
          </a:prstGeom>
          <a:ln w="28575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2171700" y="2121408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Calibri"/>
              </a:rPr>
              <a:t>Wait over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2080260" y="2852928"/>
            <a:ext cx="0" cy="274320"/>
          </a:xfrm>
          <a:prstGeom prst="line">
            <a:avLst/>
          </a:prstGeom>
          <a:ln w="28575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2080260" y="3584448"/>
            <a:ext cx="0" cy="256032"/>
          </a:xfrm>
          <a:prstGeom prst="line">
            <a:avLst/>
          </a:prstGeom>
          <a:ln w="28575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2171700" y="3602736"/>
            <a:ext cx="1280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Calibri"/>
              </a:rPr>
              <a:t>Press (or CPU)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3246120" y="3474720"/>
            <a:ext cx="22860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3474720" y="3236976"/>
            <a:ext cx="0" cy="237744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H="1">
            <a:off x="3246120" y="3236976"/>
            <a:ext cx="228600" cy="0"/>
          </a:xfrm>
          <a:prstGeom prst="line">
            <a:avLst/>
          </a:prstGeom>
          <a:ln w="28575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3538727" y="324612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Calibri"/>
              </a:rPr>
              <a:t>No press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886200" y="1645920"/>
            <a:ext cx="1600200" cy="566928"/>
          </a:xfrm>
          <a:prstGeom prst="roundRect">
            <a:avLst>
              <a:gd name="adj" fmla="val 10000"/>
            </a:avLst>
          </a:prstGeom>
          <a:solidFill>
            <a:srgbClr val="4A8FBF"/>
          </a:solidFill>
          <a:ln w="12700">
            <a:solidFill>
              <a:srgbClr val="3570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27432" rIns="36576" bIns="27432" rtlCol="0" anchor="ctr"/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False Start</a:t>
            </a:r>
          </a:p>
          <a:p>
            <a:pPr algn="ctr"/>
            <a:r>
              <a:rPr sz="800" b="0" i="1">
                <a:solidFill>
                  <a:srgbClr val="E3F0F8"/>
                </a:solidFill>
                <a:latin typeface="Calibri"/>
              </a:rPr>
              <a:t>rope moves toward</a:t>
            </a:r>
          </a:p>
          <a:p>
            <a:pPr algn="ctr"/>
            <a:r>
              <a:rPr sz="800" b="0" i="1">
                <a:solidFill>
                  <a:srgbClr val="E3F0F8"/>
                </a:solidFill>
                <a:latin typeface="Calibri"/>
              </a:rPr>
              <a:t>other player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3246120" y="1783080"/>
            <a:ext cx="640080" cy="0"/>
          </a:xfrm>
          <a:prstGeom prst="line">
            <a:avLst/>
          </a:prstGeom>
          <a:ln w="28575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3337560" y="1536192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Calibri"/>
              </a:rPr>
              <a:t>Pressed early</a:t>
            </a:r>
          </a:p>
        </p:txBody>
      </p:sp>
      <p:cxnSp>
        <p:nvCxnSpPr>
          <p:cNvPr id="52" name="Connector 51"/>
          <p:cNvCxnSpPr/>
          <p:nvPr/>
        </p:nvCxnSpPr>
        <p:spPr>
          <a:xfrm flipH="1">
            <a:off x="3246120" y="2029968"/>
            <a:ext cx="640080" cy="0"/>
          </a:xfrm>
          <a:prstGeom prst="line">
            <a:avLst/>
          </a:prstGeom>
          <a:ln w="28575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3337560" y="205740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Calibri"/>
              </a:rPr>
              <a:t>Retry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48640" y="4663440"/>
            <a:ext cx="5120640" cy="1280160"/>
          </a:xfrm>
          <a:prstGeom prst="roundRect">
            <a:avLst>
              <a:gd name="adj" fmla="val 8000"/>
            </a:avLst>
          </a:prstGeom>
          <a:noFill/>
          <a:ln w="25400">
            <a:solidFill>
              <a:srgbClr val="00000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777240" y="4736592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000000"/>
                </a:solidFill>
                <a:latin typeface="Calibri"/>
              </a:rPr>
              <a:t>Cleanup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68680" y="5120640"/>
            <a:ext cx="1737360" cy="548640"/>
          </a:xfrm>
          <a:prstGeom prst="roundRect">
            <a:avLst>
              <a:gd name="adj" fmla="val 10000"/>
            </a:avLst>
          </a:prstGeom>
          <a:solidFill>
            <a:srgbClr val="4A8FBF"/>
          </a:solidFill>
          <a:ln w="12700">
            <a:solidFill>
              <a:srgbClr val="3570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27432" rIns="36576" bIns="27432" rtlCol="0" anchor="ctr"/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Execute Task</a:t>
            </a:r>
          </a:p>
          <a:p>
            <a:pPr algn="ctr"/>
            <a:r>
              <a:rPr sz="800" b="0" i="1">
                <a:solidFill>
                  <a:srgbClr val="E3F0F8"/>
                </a:solidFill>
                <a:latin typeface="Calibri"/>
              </a:rPr>
              <a:t>run()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3520440" y="5120640"/>
            <a:ext cx="1920240" cy="548640"/>
          </a:xfrm>
          <a:prstGeom prst="roundRect">
            <a:avLst>
              <a:gd name="adj" fmla="val 10000"/>
            </a:avLst>
          </a:prstGeom>
          <a:solidFill>
            <a:srgbClr val="4A8FBF"/>
          </a:solidFill>
          <a:ln w="12700">
            <a:solidFill>
              <a:srgbClr val="3570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27432" rIns="36576" bIns="27432" rtlCol="0" anchor="ctr"/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Cleanup</a:t>
            </a:r>
          </a:p>
          <a:p>
            <a:pPr algn="ctr"/>
            <a:r>
              <a:rPr sz="800" b="0" i="1">
                <a:solidFill>
                  <a:srgbClr val="E3F0F8"/>
                </a:solidFill>
                <a:latin typeface="Calibri"/>
              </a:rPr>
              <a:t>display.text('----')</a:t>
            </a:r>
          </a:p>
          <a:p>
            <a:pPr algn="ctr"/>
            <a:r>
              <a:rPr sz="800" b="0" i="1">
                <a:solidFill>
                  <a:srgbClr val="E3F0F8"/>
                </a:solidFill>
                <a:latin typeface="Calibri"/>
              </a:rPr>
              <a:t>strip.clear()  stats.save()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2606040" y="5394960"/>
            <a:ext cx="914400" cy="0"/>
          </a:xfrm>
          <a:prstGeom prst="line">
            <a:avLst/>
          </a:prstGeom>
          <a:ln w="28575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2651760" y="5138928"/>
            <a:ext cx="8229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Calibri"/>
              </a:rPr>
              <a:t>Ctrl-C</a:t>
            </a:r>
          </a:p>
        </p:txBody>
      </p:sp>
      <p:cxnSp>
        <p:nvCxnSpPr>
          <p:cNvPr id="60" name="Connector 59"/>
          <p:cNvCxnSpPr/>
          <p:nvPr/>
        </p:nvCxnSpPr>
        <p:spPr>
          <a:xfrm flipH="1" flipV="1">
            <a:off x="5687568" y="2834640"/>
            <a:ext cx="2130552" cy="731520"/>
          </a:xfrm>
          <a:prstGeom prst="line">
            <a:avLst/>
          </a:prstGeom>
          <a:ln w="38100">
            <a:solidFill>
              <a:srgbClr val="4CAF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H="1" flipV="1">
            <a:off x="5687568" y="5394960"/>
            <a:ext cx="438912" cy="274320"/>
          </a:xfrm>
          <a:prstGeom prst="line">
            <a:avLst/>
          </a:prstGeom>
          <a:ln w="38100">
            <a:solidFill>
              <a:srgbClr val="4CAF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Diamond Grid 16x9">
  <a:themeElements>
    <a:clrScheme name="Custom 3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000000"/>
      </a:hlink>
      <a:folHlink>
        <a:srgbClr val="9F6715"/>
      </a:folHlink>
    </a:clrScheme>
    <a:fontScheme name="Arial">
      <a:maj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usiness diamond grid presentation (widescreen).potx" id="{B2221865-AD13-4DF0-B68E-BF08E8CC5659}" vid="{BAA0C488-98B6-4F47-8E1C-5C7CD9605F73}"/>
    </a:ext>
  </a:extLst>
</a:theme>
</file>

<file path=ppt/theme/theme2.xml><?xml version="1.0" encoding="utf-8"?>
<a:theme xmlns:a="http://schemas.openxmlformats.org/drawingml/2006/main" name="Office Theme">
  <a:themeElements>
    <a:clrScheme name="DiamondGrid">
      <a:dk1>
        <a:srgbClr val="2D2E2D"/>
      </a:dk1>
      <a:lt1>
        <a:sysClr val="window" lastClr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Arial">
      <a:maj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DiamondGrid">
      <a:dk1>
        <a:srgbClr val="2D2E2D"/>
      </a:dk1>
      <a:lt1>
        <a:sysClr val="window" lastClr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Arial">
      <a:maj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Business diamond grid presentation (widescreen)</Template>
  <TotalTime>10190</TotalTime>
  <Words>1653</Words>
  <Application>Microsoft Macintosh PowerPoint</Application>
  <PresentationFormat>Widescreen</PresentationFormat>
  <Paragraphs>245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Wingdings</vt:lpstr>
      <vt:lpstr>Diamond Grid 16x9</vt:lpstr>
      <vt:lpstr>EDES 301  Reaction Tug-of-War Proposal</vt:lpstr>
      <vt:lpstr>Background Information</vt:lpstr>
      <vt:lpstr>System Block Diagram</vt:lpstr>
      <vt:lpstr>Power Block Diagram</vt:lpstr>
      <vt:lpstr>Components / Budget</vt:lpstr>
      <vt:lpstr>Software Block Diagram</vt:lpstr>
      <vt:lpstr>Classes and HW API</vt:lpstr>
      <vt:lpstr>SW Flow Diagram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Layout</dc:title>
  <dc:creator>Erik Welsh</dc:creator>
  <cp:lastModifiedBy>Jordyn Mariam</cp:lastModifiedBy>
  <cp:revision>417</cp:revision>
  <dcterms:created xsi:type="dcterms:W3CDTF">2018-01-09T20:24:50Z</dcterms:created>
  <dcterms:modified xsi:type="dcterms:W3CDTF">2026-10-20T17:46:02Z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